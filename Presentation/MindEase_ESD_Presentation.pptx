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 am Atanu Banerjee from Computer Science &amp; Engineering at Techno India University.
Today I will present MindEase — a student-focused mental wellness platform built as part of my ESD project.
This project is aligned with UN Sustainable Development Goal 3: Good Health and Well-being.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MindEase is directly aligned with SDG 3 — Good Health and Well-being.
Research shows 1 in 4 college students struggles with anxiety or depression, yet most never seek help.
SDG Target 3.4 calls for reducing mental health disorders globally.
MindEase addresses this by making wellness support proactive, digital, and accessible to every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real and urgent. 76% of college students report high stress.
Only 1 in 5 ever seek professional help — stigma, unawareness, and cost are major barriers.
Existing apps are generic, expensive, and not tailored to student life.
Campus counseling is often inaccessible outside working hours.
MindEase was designed specifically to fill this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MindEase is a free, student-first mental wellness web platform.
It offers four core pillars: daily mood tracking with trends, evidence-based stress quizzes, habit monitoring for sleep and exercise, and emergency access to mental health resources.
The solution is lightweight, works in browsers, and requires no app download — making it accessible to any student with internet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MindEase has six core features.
1. Mood Tracker — daily logging with visual trend charts.
2. Stress Assessment — evidence-based PSS quiz with real-time feedback.
3. Habit Tracker — tracks sleep, hydration, and exercise with streaks.
4. Wellness Recommendations — contextual tips based on mood and stress scores.
5. Motivation Center — affirmations, goals, and achievement badges.
6. Emergency Support — one-tap access to iCall, Vandrevala helpline, and crisis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MindEase follows a classic 3-layer architecture.
The Frontend — built with React.js and Tailwind CSS — handles all user interactions: dashboard, mood logging, habits, and assessments.
The Backend — FastAPI in Python — processes API requests, runs the recommendation engine, and applies the stress algorithm.
Storage uses Local Storage and JSON files, keeping the system lightweight and deployable without a heavy database.
The user flow is simple: login, choose an activity, get personalized output, and access emergency support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live demo flow — six steps, under 5 minutes per day.
Step 1: The student registers, sets wellness goals, and chooses a daily reminder time.
Step 2: They log today's mood using an emoji scale from 1–10 — the trend chart updates instantly.
Step 3: The PSS-based stress quiz gives a score: Low, Moderate, or High.
Step 4: Habit check-in captures sleep hours, water intake, and exercise minutes.
Step 5: The AI recommendation engine reads all three inputs and surfaces personalised wellness tips.
Step 6: If the student is in distress, one tap surfaces iCall and Vandrevala helpline links.
The alternating above/below card layout visually represents the sequential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MindEase is built entirely on free and open-source technologies.
React.js powers the frontend; Tailwind CSS handles responsive design. FastAPI serves the backend API; Local Storage persists user data without a paid database.
Technically feasible — any student with browser access can use it.
Financially feasible — zero licensing costs, free hosting on Vercel or Railway.
Operationally feasible — a single CSE student can build and maintain the entire platform within one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MindEase stands out for six key reasons.
1. It was designed exclusively for students — not a generic wellness app.
2. It unifies mood, stress, habits, and recommendations in one place.
3. It is completely free — no subscriptions, accessible on any browser.
4. It is directly aligned with SDG 3, Target 3.4.
5. Privacy-first: all user data stays in the browser — nothing is uploaded to external servers.
6. The recommendation engine is context-aware — it combines multiple signals to give personalized, actionable tips.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MindEase creates both immediate and long-term impact.
Right now it empowers students to take control of their mental health, reduces pressure on campus counselors, and provides 24/7 crisis access.
Looking ahead: Phase 2 adds an AI chatbot. Phase 3 brings admin analytics for university health teams. Phase 4 integrates wearables. Phase 5 adds multilingual support for Indian regional languages. Phase 6 is a full cloud and mobile PWA rollout.
The platform can scale from a single college to a national student wellness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MindEase is a practical, student-first solution to the growing mental health crisis in colleges, fully aligned with SDG 3.
I have referenced WHO reports, the Perceived Stress Scale, NIMHANS India data, and the UN SDG framework throughout this project.
I am happy to take any questions about the platform, its design, or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6"/>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028090"/>
          </a:solidFill>
          <a:ln w="12700">
            <a:solidFill>
              <a:srgbClr val="028090"/>
            </a:solidFill>
            <a:prstDash val="solid"/>
          </a:ln>
        </p:spPr>
      </p:sp>
      <p:sp>
        <p:nvSpPr>
          <p:cNvPr id="3" name="Shape 1"/>
          <p:cNvSpPr/>
          <p:nvPr/>
        </p:nvSpPr>
        <p:spPr>
          <a:xfrm>
            <a:off x="-548640" y="3474720"/>
            <a:ext cx="2286000" cy="2286000"/>
          </a:xfrm>
          <a:prstGeom prst="oval">
            <a:avLst/>
          </a:prstGeom>
          <a:solidFill>
            <a:srgbClr val="02C39A">
              <a:alpha val="30000"/>
            </a:srgbClr>
          </a:solidFill>
          <a:ln w="12700">
            <a:solidFill>
              <a:srgbClr val="02C39A"/>
            </a:solidFill>
            <a:prstDash val="solid"/>
          </a:ln>
        </p:spPr>
      </p:sp>
      <p:sp>
        <p:nvSpPr>
          <p:cNvPr id="4" name="Shape 2"/>
          <p:cNvSpPr/>
          <p:nvPr/>
        </p:nvSpPr>
        <p:spPr>
          <a:xfrm>
            <a:off x="2286000" y="-548640"/>
            <a:ext cx="1645920" cy="1645920"/>
          </a:xfrm>
          <a:prstGeom prst="oval">
            <a:avLst/>
          </a:prstGeom>
          <a:solidFill>
            <a:srgbClr val="E0F9F4">
              <a:alpha val="40000"/>
            </a:srgbClr>
          </a:solidFill>
          <a:ln w="12700">
            <a:solidFill>
              <a:srgbClr val="E0F9F4"/>
            </a:solidFill>
            <a:prstDash val="solid"/>
          </a:ln>
        </p:spPr>
      </p:sp>
      <p:pic>
        <p:nvPicPr>
          <p:cNvPr id="5" name="Image 0" descr="preencoded.png">    </p:cNvPr>
          <p:cNvPicPr>
            <a:picLocks noChangeAspect="1"/>
          </p:cNvPicPr>
          <p:nvPr/>
        </p:nvPicPr>
        <p:blipFill>
          <a:blip r:embed="rId1"/>
          <a:stretch>
            <a:fillRect/>
          </a:stretch>
        </p:blipFill>
        <p:spPr>
          <a:xfrm>
            <a:off x="731520" y="1005840"/>
            <a:ext cx="2194560" cy="2194560"/>
          </a:xfrm>
          <a:prstGeom prst="rect">
            <a:avLst/>
          </a:prstGeom>
        </p:spPr>
      </p:pic>
      <p:sp>
        <p:nvSpPr>
          <p:cNvPr id="6" name="Shape 3"/>
          <p:cNvSpPr/>
          <p:nvPr/>
        </p:nvSpPr>
        <p:spPr>
          <a:xfrm>
            <a:off x="502920" y="3703320"/>
            <a:ext cx="2651760" cy="457200"/>
          </a:xfrm>
          <a:prstGeom prst="roundRect">
            <a:avLst>
              <a:gd name="adj" fmla="val 20000"/>
            </a:avLst>
          </a:prstGeom>
          <a:solidFill>
            <a:srgbClr val="02C39A"/>
          </a:solidFill>
          <a:ln w="12700">
            <a:solidFill>
              <a:srgbClr val="02C39A"/>
            </a:solidFill>
            <a:prstDash val="solid"/>
          </a:ln>
        </p:spPr>
      </p:sp>
      <p:sp>
        <p:nvSpPr>
          <p:cNvPr id="7" name="Text 4"/>
          <p:cNvSpPr/>
          <p:nvPr/>
        </p:nvSpPr>
        <p:spPr>
          <a:xfrm>
            <a:off x="502920" y="3703320"/>
            <a:ext cx="26517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SDG 3 — Good Health &amp; Well-being</a:t>
            </a:r>
            <a:endParaRPr lang="en-US" sz="1000" dirty="0"/>
          </a:p>
        </p:txBody>
      </p:sp>
      <p:sp>
        <p:nvSpPr>
          <p:cNvPr id="8" name="Text 5"/>
          <p:cNvSpPr/>
          <p:nvPr/>
        </p:nvSpPr>
        <p:spPr>
          <a:xfrm>
            <a:off x="3931920" y="502920"/>
            <a:ext cx="4937760" cy="914400"/>
          </a:xfrm>
          <a:prstGeom prst="rect">
            <a:avLst/>
          </a:prstGeom>
          <a:noFill/>
          <a:ln/>
        </p:spPr>
        <p:txBody>
          <a:bodyPr wrap="square" lIns="0" tIns="0" rIns="0" bIns="0" rtlCol="0" anchor="ctr"/>
          <a:lstStyle/>
          <a:p>
            <a:pPr algn="l" indent="0" marL="0">
              <a:buNone/>
            </a:pPr>
            <a:r>
              <a:rPr lang="en-US" sz="4400" b="1" dirty="0">
                <a:solidFill>
                  <a:srgbClr val="02C39A"/>
                </a:solidFill>
                <a:latin typeface="Calibri" pitchFamily="34" charset="0"/>
                <a:ea typeface="Calibri" pitchFamily="34" charset="-122"/>
                <a:cs typeface="Calibri" pitchFamily="34" charset="-120"/>
              </a:rPr>
              <a:t>MindEase</a:t>
            </a:r>
            <a:endParaRPr lang="en-US" sz="4400" dirty="0"/>
          </a:p>
        </p:txBody>
      </p:sp>
      <p:sp>
        <p:nvSpPr>
          <p:cNvPr id="9" name="Text 6"/>
          <p:cNvSpPr/>
          <p:nvPr/>
        </p:nvSpPr>
        <p:spPr>
          <a:xfrm>
            <a:off x="3931920" y="1325880"/>
            <a:ext cx="4937760" cy="457200"/>
          </a:xfrm>
          <a:prstGeom prst="rect">
            <a:avLst/>
          </a:prstGeom>
          <a:noFill/>
          <a:ln/>
        </p:spPr>
        <p:txBody>
          <a:bodyPr wrap="square" lIns="0" tIns="0" rIns="0" bIns="0" rtlCol="0" anchor="ctr"/>
          <a:lstStyle/>
          <a:p>
            <a:pPr algn="l" indent="0" marL="0">
              <a:buNone/>
            </a:pPr>
            <a:r>
              <a:rPr lang="en-US" sz="1800" dirty="0">
                <a:solidFill>
                  <a:srgbClr val="E2EAF0"/>
                </a:solidFill>
                <a:latin typeface="Calibri" pitchFamily="34" charset="0"/>
                <a:ea typeface="Calibri" pitchFamily="34" charset="-122"/>
                <a:cs typeface="Calibri" pitchFamily="34" charset="-120"/>
              </a:rPr>
              <a:t>Student Mental Wellness Platform</a:t>
            </a:r>
            <a:endParaRPr lang="en-US" sz="1800" dirty="0"/>
          </a:p>
        </p:txBody>
      </p:sp>
      <p:sp>
        <p:nvSpPr>
          <p:cNvPr id="10" name="Shape 7"/>
          <p:cNvSpPr/>
          <p:nvPr/>
        </p:nvSpPr>
        <p:spPr>
          <a:xfrm>
            <a:off x="3931920" y="2011680"/>
            <a:ext cx="4846320" cy="2194560"/>
          </a:xfrm>
          <a:prstGeom prst="roundRect">
            <a:avLst>
              <a:gd name="adj" fmla="val 5000"/>
            </a:avLst>
          </a:prstGeom>
          <a:solidFill>
            <a:srgbClr val="1A3C4D"/>
          </a:solidFill>
          <a:ln w="19050">
            <a:solidFill>
              <a:srgbClr val="02C39A"/>
            </a:solidFill>
            <a:prstDash val="solid"/>
          </a:ln>
        </p:spPr>
      </p:sp>
      <p:sp>
        <p:nvSpPr>
          <p:cNvPr id="11" name="Text 8"/>
          <p:cNvSpPr/>
          <p:nvPr/>
        </p:nvSpPr>
        <p:spPr>
          <a:xfrm>
            <a:off x="4206240" y="2148840"/>
            <a:ext cx="4389120" cy="1920240"/>
          </a:xfrm>
          <a:prstGeom prst="rect">
            <a:avLst/>
          </a:prstGeom>
          <a:noFill/>
          <a:ln/>
        </p:spPr>
        <p:txBody>
          <a:bodyPr wrap="square" lIns="0" tIns="0" rIns="0" bIns="0" rtlCol="0" anchor="t"/>
          <a:lstStyle/>
          <a:p>
            <a:pPr indent="0" marL="0">
              <a:spcAft>
                <a:spcPts val="400"/>
              </a:spcAft>
              <a:buNone/>
            </a:pPr>
            <a:r>
              <a:rPr lang="en-US" sz="1300" b="1" dirty="0">
                <a:solidFill>
                  <a:srgbClr val="02C39A"/>
                </a:solidFill>
                <a:latin typeface="Calibri" pitchFamily="34" charset="0"/>
                <a:ea typeface="Calibri" pitchFamily="34" charset="-122"/>
                <a:cs typeface="Calibri" pitchFamily="34" charset="-120"/>
              </a:rPr>
              <a:t>Student: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Atanu Banerjee</a:t>
            </a:r>
            <a:endParaRPr lang="en-US" sz="1300" dirty="0"/>
          </a:p>
          <a:p>
            <a:pPr indent="0" marL="0">
              <a:spcAft>
                <a:spcPts val="400"/>
              </a:spcAft>
              <a:buNone/>
            </a:pPr>
            <a:r>
              <a:rPr lang="en-US" sz="1300" b="1" dirty="0">
                <a:solidFill>
                  <a:srgbClr val="02C39A"/>
                </a:solidFill>
                <a:latin typeface="Calibri" pitchFamily="34" charset="0"/>
                <a:ea typeface="Calibri" pitchFamily="34" charset="-122"/>
                <a:cs typeface="Calibri" pitchFamily="34" charset="-120"/>
              </a:rPr>
              <a:t>Student ID: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231001001157</a:t>
            </a:r>
            <a:endParaRPr lang="en-US" sz="1300" dirty="0"/>
          </a:p>
          <a:p>
            <a:pPr indent="0" marL="0">
              <a:spcAft>
                <a:spcPts val="400"/>
              </a:spcAft>
              <a:buNone/>
            </a:pPr>
            <a:r>
              <a:rPr lang="en-US" sz="1300" b="1" dirty="0">
                <a:solidFill>
                  <a:srgbClr val="02C39A"/>
                </a:solidFill>
                <a:latin typeface="Calibri" pitchFamily="34" charset="0"/>
                <a:ea typeface="Calibri" pitchFamily="34" charset="-122"/>
                <a:cs typeface="Calibri" pitchFamily="34" charset="-120"/>
              </a:rPr>
              <a:t>Dept: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CSE</a:t>
            </a:r>
            <a:endParaRPr lang="en-US" sz="1300" dirty="0"/>
          </a:p>
          <a:p>
            <a:pPr indent="0" marL="0">
              <a:spcAft>
                <a:spcPts val="400"/>
              </a:spcAft>
              <a:buNone/>
            </a:pPr>
            <a:r>
              <a:rPr lang="en-US" sz="1300" b="1" dirty="0">
                <a:solidFill>
                  <a:srgbClr val="02C39A"/>
                </a:solidFill>
                <a:latin typeface="Calibri" pitchFamily="34" charset="0"/>
                <a:ea typeface="Calibri" pitchFamily="34" charset="-122"/>
                <a:cs typeface="Calibri" pitchFamily="34" charset="-120"/>
              </a:rPr>
              <a:t>College: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Techno India University, WB</a:t>
            </a:r>
            <a:endParaRPr lang="en-US" sz="1300" dirty="0"/>
          </a:p>
          <a:p>
            <a:pPr indent="0" marL="0">
              <a:spcAft>
                <a:spcPts val="400"/>
              </a:spcAft>
              <a:buNone/>
            </a:pPr>
            <a:r>
              <a:rPr lang="en-US" sz="1300" b="1" dirty="0">
                <a:solidFill>
                  <a:srgbClr val="02C39A"/>
                </a:solidFill>
                <a:latin typeface="Calibri" pitchFamily="34" charset="0"/>
                <a:ea typeface="Calibri" pitchFamily="34" charset="-122"/>
                <a:cs typeface="Calibri" pitchFamily="34" charset="-120"/>
              </a:rPr>
              <a:t>Year: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2025–2026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411480" y="164592"/>
            <a:ext cx="8321040" cy="502920"/>
          </a:xfrm>
          <a:prstGeom prst="rect">
            <a:avLst/>
          </a:prstGeom>
          <a:noFill/>
          <a:ln/>
        </p:spPr>
        <p:txBody>
          <a:bodyPr wrap="square" lIns="0" tIns="0" rIns="0" bIns="0" rtlCol="0" anchor="ctr"/>
          <a:lstStyle/>
          <a:p>
            <a:pPr algn="l" indent="0" marL="0">
              <a:buNone/>
            </a:pPr>
            <a:r>
              <a:rPr lang="en-US" sz="2600" b="1" dirty="0">
                <a:solidFill>
                  <a:srgbClr val="1E3A4C"/>
                </a:solidFill>
                <a:latin typeface="Calibri" pitchFamily="34" charset="0"/>
                <a:ea typeface="Calibri" pitchFamily="34" charset="-122"/>
                <a:cs typeface="Calibri" pitchFamily="34" charset="-120"/>
              </a:rPr>
              <a:t>SDG Identification — SDG 3: Good Health &amp; Well-being</a:t>
            </a:r>
            <a:endParaRPr lang="en-US" sz="2600" dirty="0"/>
          </a:p>
        </p:txBody>
      </p:sp>
      <p:sp>
        <p:nvSpPr>
          <p:cNvPr id="3" name="Shape 1"/>
          <p:cNvSpPr/>
          <p:nvPr/>
        </p:nvSpPr>
        <p:spPr>
          <a:xfrm>
            <a:off x="411480" y="749808"/>
            <a:ext cx="73152" cy="73152"/>
          </a:xfrm>
          <a:prstGeom prst="oval">
            <a:avLst/>
          </a:prstGeom>
          <a:solidFill>
            <a:srgbClr val="02C39A"/>
          </a:solidFill>
          <a:ln w="12700">
            <a:solidFill>
              <a:srgbClr val="02C39A"/>
            </a:solidFill>
            <a:prstDash val="solid"/>
          </a:ln>
        </p:spPr>
      </p:sp>
      <p:sp>
        <p:nvSpPr>
          <p:cNvPr id="4" name="Shape 2"/>
          <p:cNvSpPr/>
          <p:nvPr/>
        </p:nvSpPr>
        <p:spPr>
          <a:xfrm>
            <a:off x="548640" y="749808"/>
            <a:ext cx="73152" cy="73152"/>
          </a:xfrm>
          <a:prstGeom prst="oval">
            <a:avLst/>
          </a:prstGeom>
          <a:solidFill>
            <a:srgbClr val="028090"/>
          </a:solidFill>
          <a:ln w="12700">
            <a:solidFill>
              <a:srgbClr val="028090"/>
            </a:solidFill>
            <a:prstDash val="solid"/>
          </a:ln>
        </p:spPr>
      </p:sp>
      <p:sp>
        <p:nvSpPr>
          <p:cNvPr id="5" name="Shape 3"/>
          <p:cNvSpPr/>
          <p:nvPr/>
        </p:nvSpPr>
        <p:spPr>
          <a:xfrm>
            <a:off x="685800" y="749808"/>
            <a:ext cx="73152" cy="73152"/>
          </a:xfrm>
          <a:prstGeom prst="oval">
            <a:avLst/>
          </a:prstGeom>
          <a:solidFill>
            <a:srgbClr val="E2EAF0"/>
          </a:solidFill>
          <a:ln w="12700">
            <a:solidFill>
              <a:srgbClr val="E2EAF0"/>
            </a:solidFill>
            <a:prstDash val="solid"/>
          </a:ln>
        </p:spPr>
      </p:sp>
      <p:sp>
        <p:nvSpPr>
          <p:cNvPr id="6" name="Text 4"/>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7" name="Shape 5"/>
          <p:cNvSpPr/>
          <p:nvPr/>
        </p:nvSpPr>
        <p:spPr>
          <a:xfrm>
            <a:off x="411480" y="960120"/>
            <a:ext cx="2560320" cy="3474720"/>
          </a:xfrm>
          <a:prstGeom prst="roundRect">
            <a:avLst>
              <a:gd name="adj" fmla="val 6429"/>
            </a:avLst>
          </a:prstGeom>
          <a:solidFill>
            <a:srgbClr val="028090"/>
          </a:solidFill>
          <a:ln w="12700">
            <a:solidFill>
              <a:srgbClr val="028090"/>
            </a:solidFill>
            <a:prstDash val="solid"/>
          </a:ln>
          <a:effectLst>
            <a:outerShdw sx="100000" sy="100000" kx="0" ky="0" algn="bl" rotWithShape="0" blurRad="101600" dist="38100" dir="27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868680" y="1188720"/>
            <a:ext cx="1645920" cy="1645920"/>
          </a:xfrm>
          <a:prstGeom prst="rect">
            <a:avLst/>
          </a:prstGeom>
        </p:spPr>
      </p:pic>
      <p:sp>
        <p:nvSpPr>
          <p:cNvPr id="9" name="Text 6"/>
          <p:cNvSpPr/>
          <p:nvPr/>
        </p:nvSpPr>
        <p:spPr>
          <a:xfrm>
            <a:off x="411480" y="2834640"/>
            <a:ext cx="2560320" cy="502920"/>
          </a:xfrm>
          <a:prstGeom prst="rect">
            <a:avLst/>
          </a:prstGeom>
          <a:noFill/>
          <a:ln/>
        </p:spPr>
        <p:txBody>
          <a:bodyPr wrap="square" lIns="0" tIns="0" rIns="0" bIns="0" rtlCol="0" anchor="ctr"/>
          <a:lstStyle/>
          <a:p>
            <a:pPr algn="ctr" indent="0" marL="0">
              <a:buNone/>
            </a:pPr>
            <a:r>
              <a:rPr lang="en-US" sz="2600" b="1" dirty="0">
                <a:solidFill>
                  <a:srgbClr val="02C39A"/>
                </a:solidFill>
                <a:latin typeface="Calibri" pitchFamily="34" charset="0"/>
                <a:ea typeface="Calibri" pitchFamily="34" charset="-122"/>
                <a:cs typeface="Calibri" pitchFamily="34" charset="-120"/>
              </a:rPr>
              <a:t>SDG 3</a:t>
            </a:r>
            <a:endParaRPr lang="en-US" sz="2600" dirty="0"/>
          </a:p>
        </p:txBody>
      </p:sp>
      <p:sp>
        <p:nvSpPr>
          <p:cNvPr id="10" name="Text 7"/>
          <p:cNvSpPr/>
          <p:nvPr/>
        </p:nvSpPr>
        <p:spPr>
          <a:xfrm>
            <a:off x="411480" y="3291840"/>
            <a:ext cx="2560320" cy="8229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Good Health</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&amp; Well-being</a:t>
            </a:r>
            <a:endParaRPr lang="en-US" sz="1300" dirty="0"/>
          </a:p>
        </p:txBody>
      </p:sp>
      <p:sp>
        <p:nvSpPr>
          <p:cNvPr id="11" name="Shape 8"/>
          <p:cNvSpPr/>
          <p:nvPr/>
        </p:nvSpPr>
        <p:spPr>
          <a:xfrm>
            <a:off x="3337560" y="960120"/>
            <a:ext cx="5394960" cy="1051560"/>
          </a:xfrm>
          <a:prstGeom prst="roundRect">
            <a:avLst>
              <a:gd name="adj" fmla="val 10435"/>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3520440" y="1161288"/>
            <a:ext cx="502920" cy="502920"/>
          </a:xfrm>
          <a:prstGeom prst="rect">
            <a:avLst/>
          </a:prstGeom>
        </p:spPr>
      </p:pic>
      <p:sp>
        <p:nvSpPr>
          <p:cNvPr id="13" name="Text 9"/>
          <p:cNvSpPr/>
          <p:nvPr/>
        </p:nvSpPr>
        <p:spPr>
          <a:xfrm>
            <a:off x="4160520" y="1069848"/>
            <a:ext cx="4389120" cy="320040"/>
          </a:xfrm>
          <a:prstGeom prst="rect">
            <a:avLst/>
          </a:prstGeom>
          <a:noFill/>
          <a:ln/>
        </p:spPr>
        <p:txBody>
          <a:bodyPr wrap="square" lIns="0" tIns="0" rIns="0" bIns="0" rtlCol="0" anchor="ctr"/>
          <a:lstStyle/>
          <a:p>
            <a:pPr algn="l" indent="0" marL="0">
              <a:buNone/>
            </a:pPr>
            <a:r>
              <a:rPr lang="en-US" sz="1400" b="1" dirty="0">
                <a:solidFill>
                  <a:srgbClr val="1E3A4C"/>
                </a:solidFill>
                <a:latin typeface="Calibri" pitchFamily="34" charset="0"/>
                <a:ea typeface="Calibri" pitchFamily="34" charset="-122"/>
                <a:cs typeface="Calibri" pitchFamily="34" charset="-120"/>
              </a:rPr>
              <a:t>Why SDG 3?</a:t>
            </a:r>
            <a:endParaRPr lang="en-US" sz="1400" dirty="0"/>
          </a:p>
        </p:txBody>
      </p:sp>
      <p:sp>
        <p:nvSpPr>
          <p:cNvPr id="14" name="Text 10"/>
          <p:cNvSpPr/>
          <p:nvPr/>
        </p:nvSpPr>
        <p:spPr>
          <a:xfrm>
            <a:off x="4160520" y="1389888"/>
            <a:ext cx="4389120" cy="502920"/>
          </a:xfrm>
          <a:prstGeom prst="rect">
            <a:avLst/>
          </a:prstGeom>
          <a:noFill/>
          <a:ln/>
        </p:spPr>
        <p:txBody>
          <a:bodyPr wrap="square" lIns="0" tIns="0" rIns="0" bIns="0" rtlCol="0" anchor="ctr"/>
          <a:lstStyle/>
          <a:p>
            <a:pPr algn="l" indent="0" marL="0">
              <a:buNone/>
            </a:pPr>
            <a:r>
              <a:rPr lang="en-US" sz="1100" dirty="0">
                <a:solidFill>
                  <a:srgbClr val="4A6978"/>
                </a:solidFill>
                <a:latin typeface="Calibri" pitchFamily="34" charset="0"/>
                <a:ea typeface="Calibri" pitchFamily="34" charset="-122"/>
                <a:cs typeface="Calibri" pitchFamily="34" charset="-120"/>
              </a:rPr>
              <a:t>1 in 4 college students faces anxiety or depression. Mental health is a global health crisis.</a:t>
            </a:r>
            <a:endParaRPr lang="en-US" sz="1100" dirty="0"/>
          </a:p>
        </p:txBody>
      </p:sp>
      <p:sp>
        <p:nvSpPr>
          <p:cNvPr id="15" name="Shape 11"/>
          <p:cNvSpPr/>
          <p:nvPr/>
        </p:nvSpPr>
        <p:spPr>
          <a:xfrm>
            <a:off x="3337560" y="2148840"/>
            <a:ext cx="5394960" cy="1051560"/>
          </a:xfrm>
          <a:prstGeom prst="roundRect">
            <a:avLst>
              <a:gd name="adj" fmla="val 10435"/>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3520440" y="2350008"/>
            <a:ext cx="502920" cy="502920"/>
          </a:xfrm>
          <a:prstGeom prst="rect">
            <a:avLst/>
          </a:prstGeom>
        </p:spPr>
      </p:pic>
      <p:sp>
        <p:nvSpPr>
          <p:cNvPr id="17" name="Text 12"/>
          <p:cNvSpPr/>
          <p:nvPr/>
        </p:nvSpPr>
        <p:spPr>
          <a:xfrm>
            <a:off x="4160520" y="2258568"/>
            <a:ext cx="4389120" cy="320040"/>
          </a:xfrm>
          <a:prstGeom prst="rect">
            <a:avLst/>
          </a:prstGeom>
          <a:noFill/>
          <a:ln/>
        </p:spPr>
        <p:txBody>
          <a:bodyPr wrap="square" lIns="0" tIns="0" rIns="0" bIns="0" rtlCol="0" anchor="ctr"/>
          <a:lstStyle/>
          <a:p>
            <a:pPr algn="l" indent="0" marL="0">
              <a:buNone/>
            </a:pPr>
            <a:r>
              <a:rPr lang="en-US" sz="1400" b="1" dirty="0">
                <a:solidFill>
                  <a:srgbClr val="1E3A4C"/>
                </a:solidFill>
                <a:latin typeface="Calibri" pitchFamily="34" charset="0"/>
                <a:ea typeface="Calibri" pitchFamily="34" charset="-122"/>
                <a:cs typeface="Calibri" pitchFamily="34" charset="-120"/>
              </a:rPr>
              <a:t>SDG 3 Targets Addressed</a:t>
            </a:r>
            <a:endParaRPr lang="en-US" sz="1400" dirty="0"/>
          </a:p>
        </p:txBody>
      </p:sp>
      <p:sp>
        <p:nvSpPr>
          <p:cNvPr id="18" name="Text 13"/>
          <p:cNvSpPr/>
          <p:nvPr/>
        </p:nvSpPr>
        <p:spPr>
          <a:xfrm>
            <a:off x="4160520" y="2578608"/>
            <a:ext cx="4389120" cy="502920"/>
          </a:xfrm>
          <a:prstGeom prst="rect">
            <a:avLst/>
          </a:prstGeom>
          <a:noFill/>
          <a:ln/>
        </p:spPr>
        <p:txBody>
          <a:bodyPr wrap="square" lIns="0" tIns="0" rIns="0" bIns="0" rtlCol="0" anchor="ctr"/>
          <a:lstStyle/>
          <a:p>
            <a:pPr algn="l" indent="0" marL="0">
              <a:buNone/>
            </a:pPr>
            <a:r>
              <a:rPr lang="en-US" sz="1100" dirty="0">
                <a:solidFill>
                  <a:srgbClr val="4A6978"/>
                </a:solidFill>
                <a:latin typeface="Calibri" pitchFamily="34" charset="0"/>
                <a:ea typeface="Calibri" pitchFamily="34" charset="-122"/>
                <a:cs typeface="Calibri" pitchFamily="34" charset="-120"/>
              </a:rPr>
              <a:t>Target 3.4 — Reduce premature mortality from non-communicable diseases &amp; promote mental health.</a:t>
            </a:r>
            <a:endParaRPr lang="en-US" sz="1100" dirty="0"/>
          </a:p>
        </p:txBody>
      </p:sp>
      <p:sp>
        <p:nvSpPr>
          <p:cNvPr id="19" name="Shape 14"/>
          <p:cNvSpPr/>
          <p:nvPr/>
        </p:nvSpPr>
        <p:spPr>
          <a:xfrm>
            <a:off x="3337560" y="3337560"/>
            <a:ext cx="5394960" cy="1051560"/>
          </a:xfrm>
          <a:prstGeom prst="roundRect">
            <a:avLst>
              <a:gd name="adj" fmla="val 10435"/>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3520440" y="3538728"/>
            <a:ext cx="502920" cy="502920"/>
          </a:xfrm>
          <a:prstGeom prst="rect">
            <a:avLst/>
          </a:prstGeom>
        </p:spPr>
      </p:pic>
      <p:sp>
        <p:nvSpPr>
          <p:cNvPr id="21" name="Text 15"/>
          <p:cNvSpPr/>
          <p:nvPr/>
        </p:nvSpPr>
        <p:spPr>
          <a:xfrm>
            <a:off x="4160520" y="3447288"/>
            <a:ext cx="4389120" cy="320040"/>
          </a:xfrm>
          <a:prstGeom prst="rect">
            <a:avLst/>
          </a:prstGeom>
          <a:noFill/>
          <a:ln/>
        </p:spPr>
        <p:txBody>
          <a:bodyPr wrap="square" lIns="0" tIns="0" rIns="0" bIns="0" rtlCol="0" anchor="ctr"/>
          <a:lstStyle/>
          <a:p>
            <a:pPr algn="l" indent="0" marL="0">
              <a:buNone/>
            </a:pPr>
            <a:r>
              <a:rPr lang="en-US" sz="1400" b="1" dirty="0">
                <a:solidFill>
                  <a:srgbClr val="1E3A4C"/>
                </a:solidFill>
                <a:latin typeface="Calibri" pitchFamily="34" charset="0"/>
                <a:ea typeface="Calibri" pitchFamily="34" charset="-122"/>
                <a:cs typeface="Calibri" pitchFamily="34" charset="-120"/>
              </a:rPr>
              <a:t>Our Contribution</a:t>
            </a:r>
            <a:endParaRPr lang="en-US" sz="1400" dirty="0"/>
          </a:p>
        </p:txBody>
      </p:sp>
      <p:sp>
        <p:nvSpPr>
          <p:cNvPr id="22" name="Text 16"/>
          <p:cNvSpPr/>
          <p:nvPr/>
        </p:nvSpPr>
        <p:spPr>
          <a:xfrm>
            <a:off x="4160520" y="3767328"/>
            <a:ext cx="4389120" cy="502920"/>
          </a:xfrm>
          <a:prstGeom prst="rect">
            <a:avLst/>
          </a:prstGeom>
          <a:noFill/>
          <a:ln/>
        </p:spPr>
        <p:txBody>
          <a:bodyPr wrap="square" lIns="0" tIns="0" rIns="0" bIns="0" rtlCol="0" anchor="ctr"/>
          <a:lstStyle/>
          <a:p>
            <a:pPr algn="l" indent="0" marL="0">
              <a:buNone/>
            </a:pPr>
            <a:r>
              <a:rPr lang="en-US" sz="1100" dirty="0">
                <a:solidFill>
                  <a:srgbClr val="4A6978"/>
                </a:solidFill>
                <a:latin typeface="Calibri" pitchFamily="34" charset="0"/>
                <a:ea typeface="Calibri" pitchFamily="34" charset="-122"/>
                <a:cs typeface="Calibri" pitchFamily="34" charset="-120"/>
              </a:rPr>
              <a:t>MindEase provides affordable, accessible digital mental wellness tools to every student.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411480" y="164592"/>
            <a:ext cx="8321040" cy="502920"/>
          </a:xfrm>
          <a:prstGeom prst="rect">
            <a:avLst/>
          </a:prstGeom>
          <a:noFill/>
          <a:ln/>
        </p:spPr>
        <p:txBody>
          <a:bodyPr wrap="square" lIns="0" tIns="0" rIns="0" bIns="0" rtlCol="0" anchor="ctr"/>
          <a:lstStyle/>
          <a:p>
            <a:pPr algn="l" indent="0" marL="0">
              <a:buNone/>
            </a:pPr>
            <a:r>
              <a:rPr lang="en-US" sz="2600" b="1" dirty="0">
                <a:solidFill>
                  <a:srgbClr val="1E3A4C"/>
                </a:solidFill>
                <a:latin typeface="Calibri" pitchFamily="34" charset="0"/>
                <a:ea typeface="Calibri" pitchFamily="34" charset="-122"/>
                <a:cs typeface="Calibri" pitchFamily="34" charset="-120"/>
              </a:rPr>
              <a:t>Problem Definition — The Student Mental Health Crisis</a:t>
            </a:r>
            <a:endParaRPr lang="en-US" sz="2600" dirty="0"/>
          </a:p>
        </p:txBody>
      </p:sp>
      <p:sp>
        <p:nvSpPr>
          <p:cNvPr id="3" name="Shape 1"/>
          <p:cNvSpPr/>
          <p:nvPr/>
        </p:nvSpPr>
        <p:spPr>
          <a:xfrm>
            <a:off x="411480" y="749808"/>
            <a:ext cx="73152" cy="73152"/>
          </a:xfrm>
          <a:prstGeom prst="oval">
            <a:avLst/>
          </a:prstGeom>
          <a:solidFill>
            <a:srgbClr val="02C39A"/>
          </a:solidFill>
          <a:ln w="12700">
            <a:solidFill>
              <a:srgbClr val="02C39A"/>
            </a:solidFill>
            <a:prstDash val="solid"/>
          </a:ln>
        </p:spPr>
      </p:sp>
      <p:sp>
        <p:nvSpPr>
          <p:cNvPr id="4" name="Shape 2"/>
          <p:cNvSpPr/>
          <p:nvPr/>
        </p:nvSpPr>
        <p:spPr>
          <a:xfrm>
            <a:off x="548640" y="749808"/>
            <a:ext cx="73152" cy="73152"/>
          </a:xfrm>
          <a:prstGeom prst="oval">
            <a:avLst/>
          </a:prstGeom>
          <a:solidFill>
            <a:srgbClr val="028090"/>
          </a:solidFill>
          <a:ln w="12700">
            <a:solidFill>
              <a:srgbClr val="028090"/>
            </a:solidFill>
            <a:prstDash val="solid"/>
          </a:ln>
        </p:spPr>
      </p:sp>
      <p:sp>
        <p:nvSpPr>
          <p:cNvPr id="5" name="Shape 3"/>
          <p:cNvSpPr/>
          <p:nvPr/>
        </p:nvSpPr>
        <p:spPr>
          <a:xfrm>
            <a:off x="685800" y="749808"/>
            <a:ext cx="73152" cy="73152"/>
          </a:xfrm>
          <a:prstGeom prst="oval">
            <a:avLst/>
          </a:prstGeom>
          <a:solidFill>
            <a:srgbClr val="E2EAF0"/>
          </a:solidFill>
          <a:ln w="12700">
            <a:solidFill>
              <a:srgbClr val="E2EAF0"/>
            </a:solidFill>
            <a:prstDash val="solid"/>
          </a:ln>
        </p:spPr>
      </p:sp>
      <p:sp>
        <p:nvSpPr>
          <p:cNvPr id="6" name="Text 4"/>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7" name="Shape 5"/>
          <p:cNvSpPr/>
          <p:nvPr/>
        </p:nvSpPr>
        <p:spPr>
          <a:xfrm>
            <a:off x="411480" y="914400"/>
            <a:ext cx="2560320" cy="1280160"/>
          </a:xfrm>
          <a:prstGeom prst="roundRect">
            <a:avLst>
              <a:gd name="adj" fmla="val 8571"/>
            </a:avLst>
          </a:prstGeom>
          <a:solidFill>
            <a:srgbClr val="1E3A4C"/>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11480" y="960120"/>
            <a:ext cx="2560320" cy="640080"/>
          </a:xfrm>
          <a:prstGeom prst="rect">
            <a:avLst/>
          </a:prstGeom>
          <a:noFill/>
          <a:ln/>
        </p:spPr>
        <p:txBody>
          <a:bodyPr wrap="square" lIns="0" tIns="0" rIns="0" bIns="0" rtlCol="0" anchor="ctr"/>
          <a:lstStyle/>
          <a:p>
            <a:pPr algn="ctr" indent="0" marL="0">
              <a:buNone/>
            </a:pPr>
            <a:r>
              <a:rPr lang="en-US" sz="3200" b="1" dirty="0">
                <a:solidFill>
                  <a:srgbClr val="02C39A"/>
                </a:solidFill>
                <a:latin typeface="Calibri" pitchFamily="34" charset="0"/>
                <a:ea typeface="Calibri" pitchFamily="34" charset="-122"/>
                <a:cs typeface="Calibri" pitchFamily="34" charset="-120"/>
              </a:rPr>
              <a:t>76%</a:t>
            </a:r>
            <a:endParaRPr lang="en-US" sz="3200" dirty="0"/>
          </a:p>
        </p:txBody>
      </p:sp>
      <p:sp>
        <p:nvSpPr>
          <p:cNvPr id="9" name="Text 7"/>
          <p:cNvSpPr/>
          <p:nvPr/>
        </p:nvSpPr>
        <p:spPr>
          <a:xfrm>
            <a:off x="411480" y="1554480"/>
            <a:ext cx="256032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students report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high stress levels</a:t>
            </a:r>
            <a:endParaRPr lang="en-US" sz="1100" dirty="0"/>
          </a:p>
        </p:txBody>
      </p:sp>
      <p:sp>
        <p:nvSpPr>
          <p:cNvPr id="10" name="Shape 8"/>
          <p:cNvSpPr/>
          <p:nvPr/>
        </p:nvSpPr>
        <p:spPr>
          <a:xfrm>
            <a:off x="3200400" y="914400"/>
            <a:ext cx="2560320" cy="1280160"/>
          </a:xfrm>
          <a:prstGeom prst="roundRect">
            <a:avLst>
              <a:gd name="adj" fmla="val 8571"/>
            </a:avLst>
          </a:prstGeom>
          <a:solidFill>
            <a:srgbClr val="028090"/>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3200400" y="960120"/>
            <a:ext cx="2560320" cy="640080"/>
          </a:xfrm>
          <a:prstGeom prst="rect">
            <a:avLst/>
          </a:prstGeom>
          <a:noFill/>
          <a:ln/>
        </p:spPr>
        <p:txBody>
          <a:bodyPr wrap="square" lIns="0" tIns="0" rIns="0" bIns="0" rtlCol="0" anchor="ctr"/>
          <a:lstStyle/>
          <a:p>
            <a:pPr algn="ctr" indent="0" marL="0">
              <a:buNone/>
            </a:pPr>
            <a:r>
              <a:rPr lang="en-US" sz="3200" b="1" dirty="0">
                <a:solidFill>
                  <a:srgbClr val="02C39A"/>
                </a:solidFill>
                <a:latin typeface="Calibri" pitchFamily="34" charset="0"/>
                <a:ea typeface="Calibri" pitchFamily="34" charset="-122"/>
                <a:cs typeface="Calibri" pitchFamily="34" charset="-120"/>
              </a:rPr>
              <a:t>1 in 4</a:t>
            </a:r>
            <a:endParaRPr lang="en-US" sz="3200" dirty="0"/>
          </a:p>
        </p:txBody>
      </p:sp>
      <p:sp>
        <p:nvSpPr>
          <p:cNvPr id="12" name="Text 10"/>
          <p:cNvSpPr/>
          <p:nvPr/>
        </p:nvSpPr>
        <p:spPr>
          <a:xfrm>
            <a:off x="3200400" y="1554480"/>
            <a:ext cx="256032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face anxiety</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or depression</a:t>
            </a:r>
            <a:endParaRPr lang="en-US" sz="1100" dirty="0"/>
          </a:p>
        </p:txBody>
      </p:sp>
      <p:sp>
        <p:nvSpPr>
          <p:cNvPr id="13" name="Shape 11"/>
          <p:cNvSpPr/>
          <p:nvPr/>
        </p:nvSpPr>
        <p:spPr>
          <a:xfrm>
            <a:off x="5989320" y="914400"/>
            <a:ext cx="2560320" cy="1280160"/>
          </a:xfrm>
          <a:prstGeom prst="roundRect">
            <a:avLst>
              <a:gd name="adj" fmla="val 8571"/>
            </a:avLst>
          </a:prstGeom>
          <a:solidFill>
            <a:srgbClr val="1E3A4C"/>
          </a:solidFill>
          <a:ln w="12700">
            <a:solidFill>
              <a:srgbClr val="FFFFFF"/>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5989320" y="960120"/>
            <a:ext cx="2560320" cy="640080"/>
          </a:xfrm>
          <a:prstGeom prst="rect">
            <a:avLst/>
          </a:prstGeom>
          <a:noFill/>
          <a:ln/>
        </p:spPr>
        <p:txBody>
          <a:bodyPr wrap="square" lIns="0" tIns="0" rIns="0" bIns="0" rtlCol="0" anchor="ctr"/>
          <a:lstStyle/>
          <a:p>
            <a:pPr algn="ctr" indent="0" marL="0">
              <a:buNone/>
            </a:pPr>
            <a:r>
              <a:rPr lang="en-US" sz="3200" b="1" dirty="0">
                <a:solidFill>
                  <a:srgbClr val="02C39A"/>
                </a:solidFill>
                <a:latin typeface="Calibri" pitchFamily="34" charset="0"/>
                <a:ea typeface="Calibri" pitchFamily="34" charset="-122"/>
                <a:cs typeface="Calibri" pitchFamily="34" charset="-120"/>
              </a:rPr>
              <a:t>&lt; 20%</a:t>
            </a:r>
            <a:endParaRPr lang="en-US" sz="3200" dirty="0"/>
          </a:p>
        </p:txBody>
      </p:sp>
      <p:sp>
        <p:nvSpPr>
          <p:cNvPr id="15" name="Text 13"/>
          <p:cNvSpPr/>
          <p:nvPr/>
        </p:nvSpPr>
        <p:spPr>
          <a:xfrm>
            <a:off x="5989320" y="1554480"/>
            <a:ext cx="256032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seek professional</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help on campus</a:t>
            </a:r>
            <a:endParaRPr lang="en-US" sz="1100" dirty="0"/>
          </a:p>
        </p:txBody>
      </p:sp>
      <p:sp>
        <p:nvSpPr>
          <p:cNvPr id="16" name="Shape 14"/>
          <p:cNvSpPr/>
          <p:nvPr/>
        </p:nvSpPr>
        <p:spPr>
          <a:xfrm>
            <a:off x="411480" y="2377440"/>
            <a:ext cx="8321040" cy="2194560"/>
          </a:xfrm>
          <a:prstGeom prst="roundRect">
            <a:avLst>
              <a:gd name="adj" fmla="val 5000"/>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640080" y="2487168"/>
            <a:ext cx="7863840" cy="347472"/>
          </a:xfrm>
          <a:prstGeom prst="rect">
            <a:avLst/>
          </a:prstGeom>
          <a:noFill/>
          <a:ln/>
        </p:spPr>
        <p:txBody>
          <a:bodyPr wrap="square" lIns="0" tIns="0" rIns="0" bIns="0" rtlCol="0" anchor="ctr"/>
          <a:lstStyle/>
          <a:p>
            <a:pPr algn="l" indent="0" marL="0">
              <a:buNone/>
            </a:pPr>
            <a:r>
              <a:rPr lang="en-US" sz="1500" b="1" dirty="0">
                <a:solidFill>
                  <a:srgbClr val="028090"/>
                </a:solidFill>
                <a:latin typeface="Calibri" pitchFamily="34" charset="0"/>
                <a:ea typeface="Calibri" pitchFamily="34" charset="-122"/>
                <a:cs typeface="Calibri" pitchFamily="34" charset="-120"/>
              </a:rPr>
              <a:t>Key Challenges Identified</a:t>
            </a:r>
            <a:endParaRPr lang="en-US" sz="1500" dirty="0"/>
          </a:p>
        </p:txBody>
      </p:sp>
      <p:sp>
        <p:nvSpPr>
          <p:cNvPr id="18" name="Text 16"/>
          <p:cNvSpPr/>
          <p:nvPr/>
        </p:nvSpPr>
        <p:spPr>
          <a:xfrm>
            <a:off x="640080" y="2880360"/>
            <a:ext cx="7772400" cy="1554480"/>
          </a:xfrm>
          <a:prstGeom prst="rect">
            <a:avLst/>
          </a:prstGeom>
          <a:noFill/>
          <a:ln/>
        </p:spPr>
        <p:txBody>
          <a:bodyPr wrap="square" lIns="0" tIns="0" rIns="0" bIns="0" rtlCol="0" anchor="ctr"/>
          <a:lstStyle/>
          <a:p>
            <a:pPr algn="l" marL="342900" indent="-342900">
              <a:spcAft>
                <a:spcPts val="500"/>
              </a:spcAft>
              <a:buSzPct val="100000"/>
              <a:buChar char="•"/>
            </a:pPr>
            <a:r>
              <a:rPr lang="en-US" sz="1300" dirty="0">
                <a:solidFill>
                  <a:srgbClr val="4A6978"/>
                </a:solidFill>
                <a:latin typeface="Calibri" pitchFamily="34" charset="0"/>
                <a:ea typeface="Calibri" pitchFamily="34" charset="-122"/>
                <a:cs typeface="Calibri" pitchFamily="34" charset="-120"/>
              </a:rPr>
              <a:t>No real-time mood or stress monitoring tools built for students</a:t>
            </a:r>
            <a:endParaRPr lang="en-US" sz="1300" dirty="0"/>
          </a:p>
          <a:p>
            <a:pPr algn="l" marL="342900" indent="-342900">
              <a:spcAft>
                <a:spcPts val="500"/>
              </a:spcAft>
              <a:buSzPct val="100000"/>
              <a:buChar char="•"/>
            </a:pPr>
            <a:r>
              <a:rPr lang="en-US" sz="1300" dirty="0">
                <a:solidFill>
                  <a:srgbClr val="4A6978"/>
                </a:solidFill>
                <a:latin typeface="Calibri" pitchFamily="34" charset="0"/>
                <a:ea typeface="Calibri" pitchFamily="34" charset="-122"/>
                <a:cs typeface="Calibri" pitchFamily="34" charset="-120"/>
              </a:rPr>
              <a:t>Stigma and lack of awareness prevent students from seeking help proactively</a:t>
            </a:r>
            <a:endParaRPr lang="en-US" sz="1300" dirty="0"/>
          </a:p>
          <a:p>
            <a:pPr algn="l" marL="342900" indent="-342900">
              <a:spcAft>
                <a:spcPts val="500"/>
              </a:spcAft>
              <a:buSzPct val="100000"/>
              <a:buChar char="•"/>
            </a:pPr>
            <a:r>
              <a:rPr lang="en-US" sz="1300" dirty="0">
                <a:solidFill>
                  <a:srgbClr val="4A6978"/>
                </a:solidFill>
                <a:latin typeface="Calibri" pitchFamily="34" charset="0"/>
                <a:ea typeface="Calibri" pitchFamily="34" charset="-122"/>
                <a:cs typeface="Calibri" pitchFamily="34" charset="-120"/>
              </a:rPr>
              <a:t>Existing mental health apps are expensive, generic, or not student-friendly</a:t>
            </a:r>
            <a:endParaRPr lang="en-US" sz="1300" dirty="0"/>
          </a:p>
          <a:p>
            <a:pPr algn="l" marL="342900" indent="-342900">
              <a:spcAft>
                <a:spcPts val="500"/>
              </a:spcAft>
              <a:buSzPct val="100000"/>
              <a:buChar char="•"/>
            </a:pPr>
            <a:r>
              <a:rPr lang="en-US" sz="1300" dirty="0">
                <a:solidFill>
                  <a:srgbClr val="4A6978"/>
                </a:solidFill>
                <a:latin typeface="Calibri" pitchFamily="34" charset="0"/>
                <a:ea typeface="Calibri" pitchFamily="34" charset="-122"/>
                <a:cs typeface="Calibri" pitchFamily="34" charset="-120"/>
              </a:rPr>
              <a:t>Campus counseling services are overburdened and not always accessible 24×7</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411480" y="164592"/>
            <a:ext cx="8321040" cy="502920"/>
          </a:xfrm>
          <a:prstGeom prst="rect">
            <a:avLst/>
          </a:prstGeom>
          <a:noFill/>
          <a:ln/>
        </p:spPr>
        <p:txBody>
          <a:bodyPr wrap="square" lIns="0" tIns="0" rIns="0" bIns="0" rtlCol="0" anchor="ctr"/>
          <a:lstStyle/>
          <a:p>
            <a:pPr algn="l" indent="0" marL="0">
              <a:buNone/>
            </a:pPr>
            <a:r>
              <a:rPr lang="en-US" sz="2600" b="1" dirty="0">
                <a:solidFill>
                  <a:srgbClr val="1E3A4C"/>
                </a:solidFill>
                <a:latin typeface="Calibri" pitchFamily="34" charset="0"/>
                <a:ea typeface="Calibri" pitchFamily="34" charset="-122"/>
                <a:cs typeface="Calibri" pitchFamily="34" charset="-120"/>
              </a:rPr>
              <a:t>Proposed Solution — MindEase Platform</a:t>
            </a:r>
            <a:endParaRPr lang="en-US" sz="2600" dirty="0"/>
          </a:p>
        </p:txBody>
      </p:sp>
      <p:sp>
        <p:nvSpPr>
          <p:cNvPr id="3" name="Shape 1"/>
          <p:cNvSpPr/>
          <p:nvPr/>
        </p:nvSpPr>
        <p:spPr>
          <a:xfrm>
            <a:off x="411480" y="749808"/>
            <a:ext cx="73152" cy="73152"/>
          </a:xfrm>
          <a:prstGeom prst="oval">
            <a:avLst/>
          </a:prstGeom>
          <a:solidFill>
            <a:srgbClr val="02C39A"/>
          </a:solidFill>
          <a:ln w="12700">
            <a:solidFill>
              <a:srgbClr val="02C39A"/>
            </a:solidFill>
            <a:prstDash val="solid"/>
          </a:ln>
        </p:spPr>
      </p:sp>
      <p:sp>
        <p:nvSpPr>
          <p:cNvPr id="4" name="Shape 2"/>
          <p:cNvSpPr/>
          <p:nvPr/>
        </p:nvSpPr>
        <p:spPr>
          <a:xfrm>
            <a:off x="548640" y="749808"/>
            <a:ext cx="73152" cy="73152"/>
          </a:xfrm>
          <a:prstGeom prst="oval">
            <a:avLst/>
          </a:prstGeom>
          <a:solidFill>
            <a:srgbClr val="028090"/>
          </a:solidFill>
          <a:ln w="12700">
            <a:solidFill>
              <a:srgbClr val="028090"/>
            </a:solidFill>
            <a:prstDash val="solid"/>
          </a:ln>
        </p:spPr>
      </p:sp>
      <p:sp>
        <p:nvSpPr>
          <p:cNvPr id="5" name="Shape 3"/>
          <p:cNvSpPr/>
          <p:nvPr/>
        </p:nvSpPr>
        <p:spPr>
          <a:xfrm>
            <a:off x="685800" y="749808"/>
            <a:ext cx="73152" cy="73152"/>
          </a:xfrm>
          <a:prstGeom prst="oval">
            <a:avLst/>
          </a:prstGeom>
          <a:solidFill>
            <a:srgbClr val="E2EAF0"/>
          </a:solidFill>
          <a:ln w="12700">
            <a:solidFill>
              <a:srgbClr val="E2EAF0"/>
            </a:solidFill>
            <a:prstDash val="solid"/>
          </a:ln>
        </p:spPr>
      </p:sp>
      <p:sp>
        <p:nvSpPr>
          <p:cNvPr id="6" name="Text 4"/>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7" name="Shape 5"/>
          <p:cNvSpPr/>
          <p:nvPr/>
        </p:nvSpPr>
        <p:spPr>
          <a:xfrm>
            <a:off x="411480" y="960120"/>
            <a:ext cx="3931920" cy="3566160"/>
          </a:xfrm>
          <a:prstGeom prst="roundRect">
            <a:avLst>
              <a:gd name="adj" fmla="val 3077"/>
            </a:avLst>
          </a:prstGeom>
          <a:solidFill>
            <a:srgbClr val="E6F7F9"/>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1371600" y="1097280"/>
            <a:ext cx="1828800" cy="1828800"/>
          </a:xfrm>
          <a:prstGeom prst="rect">
            <a:avLst/>
          </a:prstGeom>
        </p:spPr>
      </p:pic>
      <p:sp>
        <p:nvSpPr>
          <p:cNvPr id="9" name="Text 6"/>
          <p:cNvSpPr/>
          <p:nvPr/>
        </p:nvSpPr>
        <p:spPr>
          <a:xfrm>
            <a:off x="594360" y="2971800"/>
            <a:ext cx="3566160" cy="1463040"/>
          </a:xfrm>
          <a:prstGeom prst="rect">
            <a:avLst/>
          </a:prstGeom>
          <a:noFill/>
          <a:ln/>
        </p:spPr>
        <p:txBody>
          <a:bodyPr wrap="square" lIns="0" tIns="0" rIns="0" bIns="0" rtlCol="0" anchor="ctr"/>
          <a:lstStyle/>
          <a:p>
            <a:pPr algn="ctr" indent="0" marL="0">
              <a:buNone/>
            </a:pPr>
            <a:r>
              <a:rPr lang="en-US" sz="1300" dirty="0">
                <a:solidFill>
                  <a:srgbClr val="1E3A4C"/>
                </a:solidFill>
                <a:latin typeface="Calibri" pitchFamily="34" charset="0"/>
                <a:ea typeface="Calibri" pitchFamily="34" charset="-122"/>
                <a:cs typeface="Calibri" pitchFamily="34" charset="-120"/>
              </a:rPr>
              <a:t>MindEase is a free, accessible</a:t>
            </a:r>
            <a:endParaRPr lang="en-US" sz="1300" dirty="0"/>
          </a:p>
          <a:p>
            <a:pPr algn="ctr" indent="0" marL="0">
              <a:buNone/>
            </a:pPr>
            <a:r>
              <a:rPr lang="en-US" sz="1300" dirty="0">
                <a:solidFill>
                  <a:srgbClr val="1E3A4C"/>
                </a:solidFill>
                <a:latin typeface="Calibri" pitchFamily="34" charset="0"/>
                <a:ea typeface="Calibri" pitchFamily="34" charset="-122"/>
                <a:cs typeface="Calibri" pitchFamily="34" charset="-120"/>
              </a:rPr>
              <a:t>web platform for students</a:t>
            </a:r>
            <a:endParaRPr lang="en-US" sz="1300" dirty="0"/>
          </a:p>
          <a:p>
            <a:pPr algn="ctr" indent="0" marL="0">
              <a:buNone/>
            </a:pPr>
            <a:r>
              <a:rPr lang="en-US" sz="1300" dirty="0">
                <a:solidFill>
                  <a:srgbClr val="1E3A4C"/>
                </a:solidFill>
                <a:latin typeface="Calibri" pitchFamily="34" charset="0"/>
                <a:ea typeface="Calibri" pitchFamily="34" charset="-122"/>
                <a:cs typeface="Calibri" pitchFamily="34" charset="-120"/>
              </a:rPr>
              <a:t>to monitor and improve</a:t>
            </a:r>
            <a:endParaRPr lang="en-US" sz="1300" dirty="0"/>
          </a:p>
          <a:p>
            <a:pPr algn="ctr" indent="0" marL="0">
              <a:buNone/>
            </a:pPr>
            <a:r>
              <a:rPr lang="en-US" sz="1300" dirty="0">
                <a:solidFill>
                  <a:srgbClr val="1E3A4C"/>
                </a:solidFill>
                <a:latin typeface="Calibri" pitchFamily="34" charset="0"/>
                <a:ea typeface="Calibri" pitchFamily="34" charset="-122"/>
                <a:cs typeface="Calibri" pitchFamily="34" charset="-120"/>
              </a:rPr>
              <a:t>their mental wellness</a:t>
            </a:r>
            <a:endParaRPr lang="en-US" sz="1300" dirty="0"/>
          </a:p>
          <a:p>
            <a:pPr algn="ctr" indent="0" marL="0">
              <a:buNone/>
            </a:pPr>
            <a:r>
              <a:rPr lang="en-US" sz="1300" dirty="0">
                <a:solidFill>
                  <a:srgbClr val="1E3A4C"/>
                </a:solidFill>
                <a:latin typeface="Calibri" pitchFamily="34" charset="0"/>
                <a:ea typeface="Calibri" pitchFamily="34" charset="-122"/>
                <a:cs typeface="Calibri" pitchFamily="34" charset="-120"/>
              </a:rPr>
              <a:t>anytime, anywhere.</a:t>
            </a:r>
            <a:endParaRPr lang="en-US" sz="1300" dirty="0"/>
          </a:p>
        </p:txBody>
      </p:sp>
      <p:sp>
        <p:nvSpPr>
          <p:cNvPr id="10" name="Shape 7"/>
          <p:cNvSpPr/>
          <p:nvPr/>
        </p:nvSpPr>
        <p:spPr>
          <a:xfrm>
            <a:off x="4572000" y="960120"/>
            <a:ext cx="1965960" cy="1600200"/>
          </a:xfrm>
          <a:prstGeom prst="roundRect">
            <a:avLst>
              <a:gd name="adj" fmla="val 6857"/>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257800" y="1124712"/>
            <a:ext cx="594360" cy="594360"/>
          </a:xfrm>
          <a:prstGeom prst="rect">
            <a:avLst/>
          </a:prstGeom>
        </p:spPr>
      </p:pic>
      <p:sp>
        <p:nvSpPr>
          <p:cNvPr id="12" name="Text 8"/>
          <p:cNvSpPr/>
          <p:nvPr/>
        </p:nvSpPr>
        <p:spPr>
          <a:xfrm>
            <a:off x="4663440" y="1764792"/>
            <a:ext cx="1783080" cy="320040"/>
          </a:xfrm>
          <a:prstGeom prst="rect">
            <a:avLst/>
          </a:prstGeom>
          <a:noFill/>
          <a:ln/>
        </p:spPr>
        <p:txBody>
          <a:bodyPr wrap="square" lIns="0" tIns="0" rIns="0" bIns="0" rtlCol="0" anchor="ctr"/>
          <a:lstStyle/>
          <a:p>
            <a:pPr algn="ctr" indent="0" marL="0">
              <a:buNone/>
            </a:pPr>
            <a:r>
              <a:rPr lang="en-US" sz="1200" b="1" dirty="0">
                <a:solidFill>
                  <a:srgbClr val="1E3A4C"/>
                </a:solidFill>
                <a:latin typeface="Calibri" pitchFamily="34" charset="0"/>
                <a:ea typeface="Calibri" pitchFamily="34" charset="-122"/>
                <a:cs typeface="Calibri" pitchFamily="34" charset="-120"/>
              </a:rPr>
              <a:t>Mood Tracking</a:t>
            </a:r>
            <a:endParaRPr lang="en-US" sz="1200" dirty="0"/>
          </a:p>
        </p:txBody>
      </p:sp>
      <p:sp>
        <p:nvSpPr>
          <p:cNvPr id="13" name="Text 9"/>
          <p:cNvSpPr/>
          <p:nvPr/>
        </p:nvSpPr>
        <p:spPr>
          <a:xfrm>
            <a:off x="4663440" y="2075688"/>
            <a:ext cx="1783080" cy="411480"/>
          </a:xfrm>
          <a:prstGeom prst="rect">
            <a:avLst/>
          </a:prstGeom>
          <a:noFill/>
          <a:ln/>
        </p:spPr>
        <p:txBody>
          <a:bodyPr wrap="square" lIns="0" tIns="0" rIns="0" bIns="0" rtlCol="0" anchor="ctr"/>
          <a:lstStyle/>
          <a:p>
            <a:pPr algn="ctr" indent="0" marL="0">
              <a:buNone/>
            </a:pPr>
            <a:r>
              <a:rPr lang="en-US" sz="950" dirty="0">
                <a:solidFill>
                  <a:srgbClr val="4A6978"/>
                </a:solidFill>
                <a:latin typeface="Calibri" pitchFamily="34" charset="0"/>
                <a:ea typeface="Calibri" pitchFamily="34" charset="-122"/>
                <a:cs typeface="Calibri" pitchFamily="34" charset="-120"/>
              </a:rPr>
              <a:t>Daily emotional check-ins with trend visualization</a:t>
            </a:r>
            <a:endParaRPr lang="en-US" sz="950" dirty="0"/>
          </a:p>
        </p:txBody>
      </p:sp>
      <p:sp>
        <p:nvSpPr>
          <p:cNvPr id="14" name="Shape 10"/>
          <p:cNvSpPr/>
          <p:nvPr/>
        </p:nvSpPr>
        <p:spPr>
          <a:xfrm>
            <a:off x="6720840" y="960120"/>
            <a:ext cx="1965960" cy="1600200"/>
          </a:xfrm>
          <a:prstGeom prst="roundRect">
            <a:avLst>
              <a:gd name="adj" fmla="val 6857"/>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7406640" y="1124712"/>
            <a:ext cx="594360" cy="594360"/>
          </a:xfrm>
          <a:prstGeom prst="rect">
            <a:avLst/>
          </a:prstGeom>
        </p:spPr>
      </p:pic>
      <p:sp>
        <p:nvSpPr>
          <p:cNvPr id="16" name="Text 11"/>
          <p:cNvSpPr/>
          <p:nvPr/>
        </p:nvSpPr>
        <p:spPr>
          <a:xfrm>
            <a:off x="6812280" y="1764792"/>
            <a:ext cx="1783080" cy="320040"/>
          </a:xfrm>
          <a:prstGeom prst="rect">
            <a:avLst/>
          </a:prstGeom>
          <a:noFill/>
          <a:ln/>
        </p:spPr>
        <p:txBody>
          <a:bodyPr wrap="square" lIns="0" tIns="0" rIns="0" bIns="0" rtlCol="0" anchor="ctr"/>
          <a:lstStyle/>
          <a:p>
            <a:pPr algn="ctr" indent="0" marL="0">
              <a:buNone/>
            </a:pPr>
            <a:r>
              <a:rPr lang="en-US" sz="1200" b="1" dirty="0">
                <a:solidFill>
                  <a:srgbClr val="1E3A4C"/>
                </a:solidFill>
                <a:latin typeface="Calibri" pitchFamily="34" charset="0"/>
                <a:ea typeface="Calibri" pitchFamily="34" charset="-122"/>
                <a:cs typeface="Calibri" pitchFamily="34" charset="-120"/>
              </a:rPr>
              <a:t>Stress Assessment</a:t>
            </a:r>
            <a:endParaRPr lang="en-US" sz="1200" dirty="0"/>
          </a:p>
        </p:txBody>
      </p:sp>
      <p:sp>
        <p:nvSpPr>
          <p:cNvPr id="17" name="Text 12"/>
          <p:cNvSpPr/>
          <p:nvPr/>
        </p:nvSpPr>
        <p:spPr>
          <a:xfrm>
            <a:off x="6812280" y="2075688"/>
            <a:ext cx="1783080" cy="411480"/>
          </a:xfrm>
          <a:prstGeom prst="rect">
            <a:avLst/>
          </a:prstGeom>
          <a:noFill/>
          <a:ln/>
        </p:spPr>
        <p:txBody>
          <a:bodyPr wrap="square" lIns="0" tIns="0" rIns="0" bIns="0" rtlCol="0" anchor="ctr"/>
          <a:lstStyle/>
          <a:p>
            <a:pPr algn="ctr" indent="0" marL="0">
              <a:buNone/>
            </a:pPr>
            <a:r>
              <a:rPr lang="en-US" sz="950" dirty="0">
                <a:solidFill>
                  <a:srgbClr val="4A6978"/>
                </a:solidFill>
                <a:latin typeface="Calibri" pitchFamily="34" charset="0"/>
                <a:ea typeface="Calibri" pitchFamily="34" charset="-122"/>
                <a:cs typeface="Calibri" pitchFamily="34" charset="-120"/>
              </a:rPr>
              <a:t>Evidence-based quizzes to quantify stress levels</a:t>
            </a:r>
            <a:endParaRPr lang="en-US" sz="950" dirty="0"/>
          </a:p>
        </p:txBody>
      </p:sp>
      <p:sp>
        <p:nvSpPr>
          <p:cNvPr id="18" name="Shape 13"/>
          <p:cNvSpPr/>
          <p:nvPr/>
        </p:nvSpPr>
        <p:spPr>
          <a:xfrm>
            <a:off x="4572000" y="2788920"/>
            <a:ext cx="1965960" cy="1600200"/>
          </a:xfrm>
          <a:prstGeom prst="roundRect">
            <a:avLst>
              <a:gd name="adj" fmla="val 6857"/>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19" name="Image 3" descr="preencoded.png">    </p:cNvPr>
          <p:cNvPicPr>
            <a:picLocks noChangeAspect="1"/>
          </p:cNvPicPr>
          <p:nvPr/>
        </p:nvPicPr>
        <p:blipFill>
          <a:blip r:embed="rId4"/>
          <a:stretch>
            <a:fillRect/>
          </a:stretch>
        </p:blipFill>
        <p:spPr>
          <a:xfrm>
            <a:off x="5257800" y="2953512"/>
            <a:ext cx="594360" cy="594360"/>
          </a:xfrm>
          <a:prstGeom prst="rect">
            <a:avLst/>
          </a:prstGeom>
        </p:spPr>
      </p:pic>
      <p:sp>
        <p:nvSpPr>
          <p:cNvPr id="20" name="Text 14"/>
          <p:cNvSpPr/>
          <p:nvPr/>
        </p:nvSpPr>
        <p:spPr>
          <a:xfrm>
            <a:off x="4663440" y="3593592"/>
            <a:ext cx="1783080" cy="320040"/>
          </a:xfrm>
          <a:prstGeom prst="rect">
            <a:avLst/>
          </a:prstGeom>
          <a:noFill/>
          <a:ln/>
        </p:spPr>
        <p:txBody>
          <a:bodyPr wrap="square" lIns="0" tIns="0" rIns="0" bIns="0" rtlCol="0" anchor="ctr"/>
          <a:lstStyle/>
          <a:p>
            <a:pPr algn="ctr" indent="0" marL="0">
              <a:buNone/>
            </a:pPr>
            <a:r>
              <a:rPr lang="en-US" sz="1200" b="1" dirty="0">
                <a:solidFill>
                  <a:srgbClr val="1E3A4C"/>
                </a:solidFill>
                <a:latin typeface="Calibri" pitchFamily="34" charset="0"/>
                <a:ea typeface="Calibri" pitchFamily="34" charset="-122"/>
                <a:cs typeface="Calibri" pitchFamily="34" charset="-120"/>
              </a:rPr>
              <a:t>Habit Monitoring</a:t>
            </a:r>
            <a:endParaRPr lang="en-US" sz="1200" dirty="0"/>
          </a:p>
        </p:txBody>
      </p:sp>
      <p:sp>
        <p:nvSpPr>
          <p:cNvPr id="21" name="Text 15"/>
          <p:cNvSpPr/>
          <p:nvPr/>
        </p:nvSpPr>
        <p:spPr>
          <a:xfrm>
            <a:off x="4663440" y="3904488"/>
            <a:ext cx="1783080" cy="411480"/>
          </a:xfrm>
          <a:prstGeom prst="rect">
            <a:avLst/>
          </a:prstGeom>
          <a:noFill/>
          <a:ln/>
        </p:spPr>
        <p:txBody>
          <a:bodyPr wrap="square" lIns="0" tIns="0" rIns="0" bIns="0" rtlCol="0" anchor="ctr"/>
          <a:lstStyle/>
          <a:p>
            <a:pPr algn="ctr" indent="0" marL="0">
              <a:buNone/>
            </a:pPr>
            <a:r>
              <a:rPr lang="en-US" sz="950" dirty="0">
                <a:solidFill>
                  <a:srgbClr val="4A6978"/>
                </a:solidFill>
                <a:latin typeface="Calibri" pitchFamily="34" charset="0"/>
                <a:ea typeface="Calibri" pitchFamily="34" charset="-122"/>
                <a:cs typeface="Calibri" pitchFamily="34" charset="-120"/>
              </a:rPr>
              <a:t>Sleep, exercise &amp; wellness habit tracking</a:t>
            </a:r>
            <a:endParaRPr lang="en-US" sz="950" dirty="0"/>
          </a:p>
        </p:txBody>
      </p:sp>
      <p:sp>
        <p:nvSpPr>
          <p:cNvPr id="22" name="Shape 16"/>
          <p:cNvSpPr/>
          <p:nvPr/>
        </p:nvSpPr>
        <p:spPr>
          <a:xfrm>
            <a:off x="6720840" y="2788920"/>
            <a:ext cx="1965960" cy="1600200"/>
          </a:xfrm>
          <a:prstGeom prst="roundRect">
            <a:avLst>
              <a:gd name="adj" fmla="val 6857"/>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23" name="Image 4" descr="preencoded.png">    </p:cNvPr>
          <p:cNvPicPr>
            <a:picLocks noChangeAspect="1"/>
          </p:cNvPicPr>
          <p:nvPr/>
        </p:nvPicPr>
        <p:blipFill>
          <a:blip r:embed="rId5"/>
          <a:stretch>
            <a:fillRect/>
          </a:stretch>
        </p:blipFill>
        <p:spPr>
          <a:xfrm>
            <a:off x="7406640" y="2953512"/>
            <a:ext cx="594360" cy="594360"/>
          </a:xfrm>
          <a:prstGeom prst="rect">
            <a:avLst/>
          </a:prstGeom>
        </p:spPr>
      </p:pic>
      <p:sp>
        <p:nvSpPr>
          <p:cNvPr id="24" name="Text 17"/>
          <p:cNvSpPr/>
          <p:nvPr/>
        </p:nvSpPr>
        <p:spPr>
          <a:xfrm>
            <a:off x="6812280" y="3593592"/>
            <a:ext cx="1783080" cy="320040"/>
          </a:xfrm>
          <a:prstGeom prst="rect">
            <a:avLst/>
          </a:prstGeom>
          <a:noFill/>
          <a:ln/>
        </p:spPr>
        <p:txBody>
          <a:bodyPr wrap="square" lIns="0" tIns="0" rIns="0" bIns="0" rtlCol="0" anchor="ctr"/>
          <a:lstStyle/>
          <a:p>
            <a:pPr algn="ctr" indent="0" marL="0">
              <a:buNone/>
            </a:pPr>
            <a:r>
              <a:rPr lang="en-US" sz="1200" b="1" dirty="0">
                <a:solidFill>
                  <a:srgbClr val="1E3A4C"/>
                </a:solidFill>
                <a:latin typeface="Calibri" pitchFamily="34" charset="0"/>
                <a:ea typeface="Calibri" pitchFamily="34" charset="-122"/>
                <a:cs typeface="Calibri" pitchFamily="34" charset="-120"/>
              </a:rPr>
              <a:t>Emergency Support</a:t>
            </a:r>
            <a:endParaRPr lang="en-US" sz="1200" dirty="0"/>
          </a:p>
        </p:txBody>
      </p:sp>
      <p:sp>
        <p:nvSpPr>
          <p:cNvPr id="25" name="Text 18"/>
          <p:cNvSpPr/>
          <p:nvPr/>
        </p:nvSpPr>
        <p:spPr>
          <a:xfrm>
            <a:off x="6812280" y="3904488"/>
            <a:ext cx="1783080" cy="411480"/>
          </a:xfrm>
          <a:prstGeom prst="rect">
            <a:avLst/>
          </a:prstGeom>
          <a:noFill/>
          <a:ln/>
        </p:spPr>
        <p:txBody>
          <a:bodyPr wrap="square" lIns="0" tIns="0" rIns="0" bIns="0" rtlCol="0" anchor="ctr"/>
          <a:lstStyle/>
          <a:p>
            <a:pPr algn="ctr" indent="0" marL="0">
              <a:buNone/>
            </a:pPr>
            <a:r>
              <a:rPr lang="en-US" sz="950" dirty="0">
                <a:solidFill>
                  <a:srgbClr val="4A6978"/>
                </a:solidFill>
                <a:latin typeface="Calibri" pitchFamily="34" charset="0"/>
                <a:ea typeface="Calibri" pitchFamily="34" charset="-122"/>
                <a:cs typeface="Calibri" pitchFamily="34" charset="-120"/>
              </a:rPr>
              <a:t>One-tap access to helplines &amp; crisis resources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411480" y="164592"/>
            <a:ext cx="8321040" cy="502920"/>
          </a:xfrm>
          <a:prstGeom prst="rect">
            <a:avLst/>
          </a:prstGeom>
          <a:noFill/>
          <a:ln/>
        </p:spPr>
        <p:txBody>
          <a:bodyPr wrap="square" lIns="0" tIns="0" rIns="0" bIns="0" rtlCol="0" anchor="ctr"/>
          <a:lstStyle/>
          <a:p>
            <a:pPr algn="l" indent="0" marL="0">
              <a:buNone/>
            </a:pPr>
            <a:r>
              <a:rPr lang="en-US" sz="2600" b="1" dirty="0">
                <a:solidFill>
                  <a:srgbClr val="1E3A4C"/>
                </a:solidFill>
                <a:latin typeface="Calibri" pitchFamily="34" charset="0"/>
                <a:ea typeface="Calibri" pitchFamily="34" charset="-122"/>
                <a:cs typeface="Calibri" pitchFamily="34" charset="-120"/>
              </a:rPr>
              <a:t>Key Features — What MindEase Offers</a:t>
            </a:r>
            <a:endParaRPr lang="en-US" sz="2600" dirty="0"/>
          </a:p>
        </p:txBody>
      </p:sp>
      <p:sp>
        <p:nvSpPr>
          <p:cNvPr id="3" name="Shape 1"/>
          <p:cNvSpPr/>
          <p:nvPr/>
        </p:nvSpPr>
        <p:spPr>
          <a:xfrm>
            <a:off x="411480" y="749808"/>
            <a:ext cx="73152" cy="73152"/>
          </a:xfrm>
          <a:prstGeom prst="oval">
            <a:avLst/>
          </a:prstGeom>
          <a:solidFill>
            <a:srgbClr val="02C39A"/>
          </a:solidFill>
          <a:ln w="12700">
            <a:solidFill>
              <a:srgbClr val="02C39A"/>
            </a:solidFill>
            <a:prstDash val="solid"/>
          </a:ln>
        </p:spPr>
      </p:sp>
      <p:sp>
        <p:nvSpPr>
          <p:cNvPr id="4" name="Shape 2"/>
          <p:cNvSpPr/>
          <p:nvPr/>
        </p:nvSpPr>
        <p:spPr>
          <a:xfrm>
            <a:off x="548640" y="749808"/>
            <a:ext cx="73152" cy="73152"/>
          </a:xfrm>
          <a:prstGeom prst="oval">
            <a:avLst/>
          </a:prstGeom>
          <a:solidFill>
            <a:srgbClr val="028090"/>
          </a:solidFill>
          <a:ln w="12700">
            <a:solidFill>
              <a:srgbClr val="028090"/>
            </a:solidFill>
            <a:prstDash val="solid"/>
          </a:ln>
        </p:spPr>
      </p:sp>
      <p:sp>
        <p:nvSpPr>
          <p:cNvPr id="5" name="Shape 3"/>
          <p:cNvSpPr/>
          <p:nvPr/>
        </p:nvSpPr>
        <p:spPr>
          <a:xfrm>
            <a:off x="685800" y="749808"/>
            <a:ext cx="73152" cy="73152"/>
          </a:xfrm>
          <a:prstGeom prst="oval">
            <a:avLst/>
          </a:prstGeom>
          <a:solidFill>
            <a:srgbClr val="E2EAF0"/>
          </a:solidFill>
          <a:ln w="12700">
            <a:solidFill>
              <a:srgbClr val="E2EAF0"/>
            </a:solidFill>
            <a:prstDash val="solid"/>
          </a:ln>
        </p:spPr>
      </p:sp>
      <p:sp>
        <p:nvSpPr>
          <p:cNvPr id="6" name="Text 4"/>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7" name="Shape 5"/>
          <p:cNvSpPr/>
          <p:nvPr/>
        </p:nvSpPr>
        <p:spPr>
          <a:xfrm>
            <a:off x="411480" y="960120"/>
            <a:ext cx="2606040" cy="1737360"/>
          </a:xfrm>
          <a:prstGeom prst="roundRect">
            <a:avLst>
              <a:gd name="adj" fmla="val 6316"/>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594360" y="1161288"/>
            <a:ext cx="502920" cy="502920"/>
          </a:xfrm>
          <a:prstGeom prst="rect">
            <a:avLst/>
          </a:prstGeom>
        </p:spPr>
      </p:pic>
      <p:sp>
        <p:nvSpPr>
          <p:cNvPr id="9" name="Text 6"/>
          <p:cNvSpPr/>
          <p:nvPr/>
        </p:nvSpPr>
        <p:spPr>
          <a:xfrm>
            <a:off x="1188720" y="1161288"/>
            <a:ext cx="1691640" cy="457200"/>
          </a:xfrm>
          <a:prstGeom prst="rect">
            <a:avLst/>
          </a:prstGeom>
          <a:noFill/>
          <a:ln/>
        </p:spPr>
        <p:txBody>
          <a:bodyPr wrap="square" lIns="0" tIns="0" rIns="0" bIns="0" rtlCol="0" anchor="ctr"/>
          <a:lstStyle/>
          <a:p>
            <a:pPr algn="l" indent="0" marL="0">
              <a:buNone/>
            </a:pPr>
            <a:r>
              <a:rPr lang="en-US" sz="1200" b="1" dirty="0">
                <a:solidFill>
                  <a:srgbClr val="1E3A4C"/>
                </a:solidFill>
                <a:latin typeface="Calibri" pitchFamily="34" charset="0"/>
                <a:ea typeface="Calibri" pitchFamily="34" charset="-122"/>
                <a:cs typeface="Calibri" pitchFamily="34" charset="-120"/>
              </a:rPr>
              <a:t>Mood Tracker</a:t>
            </a:r>
            <a:endParaRPr lang="en-US" sz="1200" dirty="0"/>
          </a:p>
        </p:txBody>
      </p:sp>
      <p:sp>
        <p:nvSpPr>
          <p:cNvPr id="10" name="Text 7"/>
          <p:cNvSpPr/>
          <p:nvPr/>
        </p:nvSpPr>
        <p:spPr>
          <a:xfrm>
            <a:off x="594360" y="1764792"/>
            <a:ext cx="2331720" cy="822960"/>
          </a:xfrm>
          <a:prstGeom prst="rect">
            <a:avLst/>
          </a:prstGeom>
          <a:noFill/>
          <a:ln/>
        </p:spPr>
        <p:txBody>
          <a:bodyPr wrap="square" lIns="0" tIns="0" rIns="0" bIns="0" rtlCol="0" anchor="ctr"/>
          <a:lstStyle/>
          <a:p>
            <a:pPr algn="l" indent="0" marL="0">
              <a:buNone/>
            </a:pPr>
            <a:r>
              <a:rPr lang="en-US" sz="1000" dirty="0">
                <a:solidFill>
                  <a:srgbClr val="4A6978"/>
                </a:solidFill>
                <a:latin typeface="Calibri" pitchFamily="34" charset="0"/>
                <a:ea typeface="Calibri" pitchFamily="34" charset="-122"/>
                <a:cs typeface="Calibri" pitchFamily="34" charset="-120"/>
              </a:rPr>
              <a:t>• Daily mood logging (1–10 scale)</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Weekly trend charts</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Emoji-based quick entry</a:t>
            </a:r>
            <a:endParaRPr lang="en-US" sz="1000" dirty="0"/>
          </a:p>
        </p:txBody>
      </p:sp>
      <p:sp>
        <p:nvSpPr>
          <p:cNvPr id="11" name="Shape 8"/>
          <p:cNvSpPr/>
          <p:nvPr/>
        </p:nvSpPr>
        <p:spPr>
          <a:xfrm>
            <a:off x="3227832" y="960120"/>
            <a:ext cx="2606040" cy="1737360"/>
          </a:xfrm>
          <a:prstGeom prst="roundRect">
            <a:avLst>
              <a:gd name="adj" fmla="val 6316"/>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3410712" y="1161288"/>
            <a:ext cx="502920" cy="502920"/>
          </a:xfrm>
          <a:prstGeom prst="rect">
            <a:avLst/>
          </a:prstGeom>
        </p:spPr>
      </p:pic>
      <p:sp>
        <p:nvSpPr>
          <p:cNvPr id="13" name="Text 9"/>
          <p:cNvSpPr/>
          <p:nvPr/>
        </p:nvSpPr>
        <p:spPr>
          <a:xfrm>
            <a:off x="4005072" y="1161288"/>
            <a:ext cx="1691640" cy="457200"/>
          </a:xfrm>
          <a:prstGeom prst="rect">
            <a:avLst/>
          </a:prstGeom>
          <a:noFill/>
          <a:ln/>
        </p:spPr>
        <p:txBody>
          <a:bodyPr wrap="square" lIns="0" tIns="0" rIns="0" bIns="0" rtlCol="0" anchor="ctr"/>
          <a:lstStyle/>
          <a:p>
            <a:pPr algn="l" indent="0" marL="0">
              <a:buNone/>
            </a:pPr>
            <a:r>
              <a:rPr lang="en-US" sz="1200" b="1" dirty="0">
                <a:solidFill>
                  <a:srgbClr val="1E3A4C"/>
                </a:solidFill>
                <a:latin typeface="Calibri" pitchFamily="34" charset="0"/>
                <a:ea typeface="Calibri" pitchFamily="34" charset="-122"/>
                <a:cs typeface="Calibri" pitchFamily="34" charset="-120"/>
              </a:rPr>
              <a:t>Stress Assessment Quiz</a:t>
            </a:r>
            <a:endParaRPr lang="en-US" sz="1200" dirty="0"/>
          </a:p>
        </p:txBody>
      </p:sp>
      <p:sp>
        <p:nvSpPr>
          <p:cNvPr id="14" name="Text 10"/>
          <p:cNvSpPr/>
          <p:nvPr/>
        </p:nvSpPr>
        <p:spPr>
          <a:xfrm>
            <a:off x="3410712" y="1764792"/>
            <a:ext cx="2331720" cy="822960"/>
          </a:xfrm>
          <a:prstGeom prst="rect">
            <a:avLst/>
          </a:prstGeom>
          <a:noFill/>
          <a:ln/>
        </p:spPr>
        <p:txBody>
          <a:bodyPr wrap="square" lIns="0" tIns="0" rIns="0" bIns="0" rtlCol="0" anchor="ctr"/>
          <a:lstStyle/>
          <a:p>
            <a:pPr algn="l" indent="0" marL="0">
              <a:buNone/>
            </a:pPr>
            <a:r>
              <a:rPr lang="en-US" sz="1000" dirty="0">
                <a:solidFill>
                  <a:srgbClr val="4A6978"/>
                </a:solidFill>
                <a:latin typeface="Calibri" pitchFamily="34" charset="0"/>
                <a:ea typeface="Calibri" pitchFamily="34" charset="-122"/>
                <a:cs typeface="Calibri" pitchFamily="34" charset="-120"/>
              </a:rPr>
              <a:t>• PSS-based validated questions</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Real-time stress score</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Personalized feedback</a:t>
            </a:r>
            <a:endParaRPr lang="en-US" sz="1000" dirty="0"/>
          </a:p>
        </p:txBody>
      </p:sp>
      <p:sp>
        <p:nvSpPr>
          <p:cNvPr id="15" name="Shape 11"/>
          <p:cNvSpPr/>
          <p:nvPr/>
        </p:nvSpPr>
        <p:spPr>
          <a:xfrm>
            <a:off x="6044184" y="960120"/>
            <a:ext cx="2606040" cy="1737360"/>
          </a:xfrm>
          <a:prstGeom prst="roundRect">
            <a:avLst>
              <a:gd name="adj" fmla="val 6316"/>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6227064" y="1161288"/>
            <a:ext cx="502920" cy="502920"/>
          </a:xfrm>
          <a:prstGeom prst="rect">
            <a:avLst/>
          </a:prstGeom>
        </p:spPr>
      </p:pic>
      <p:sp>
        <p:nvSpPr>
          <p:cNvPr id="17" name="Text 12"/>
          <p:cNvSpPr/>
          <p:nvPr/>
        </p:nvSpPr>
        <p:spPr>
          <a:xfrm>
            <a:off x="6821424" y="1161288"/>
            <a:ext cx="1691640" cy="457200"/>
          </a:xfrm>
          <a:prstGeom prst="rect">
            <a:avLst/>
          </a:prstGeom>
          <a:noFill/>
          <a:ln/>
        </p:spPr>
        <p:txBody>
          <a:bodyPr wrap="square" lIns="0" tIns="0" rIns="0" bIns="0" rtlCol="0" anchor="ctr"/>
          <a:lstStyle/>
          <a:p>
            <a:pPr algn="l" indent="0" marL="0">
              <a:buNone/>
            </a:pPr>
            <a:r>
              <a:rPr lang="en-US" sz="1200" b="1" dirty="0">
                <a:solidFill>
                  <a:srgbClr val="1E3A4C"/>
                </a:solidFill>
                <a:latin typeface="Calibri" pitchFamily="34" charset="0"/>
                <a:ea typeface="Calibri" pitchFamily="34" charset="-122"/>
                <a:cs typeface="Calibri" pitchFamily="34" charset="-120"/>
              </a:rPr>
              <a:t>Habit Tracker</a:t>
            </a:r>
            <a:endParaRPr lang="en-US" sz="1200" dirty="0"/>
          </a:p>
        </p:txBody>
      </p:sp>
      <p:sp>
        <p:nvSpPr>
          <p:cNvPr id="18" name="Text 13"/>
          <p:cNvSpPr/>
          <p:nvPr/>
        </p:nvSpPr>
        <p:spPr>
          <a:xfrm>
            <a:off x="6227064" y="1764792"/>
            <a:ext cx="2331720" cy="822960"/>
          </a:xfrm>
          <a:prstGeom prst="rect">
            <a:avLst/>
          </a:prstGeom>
          <a:noFill/>
          <a:ln/>
        </p:spPr>
        <p:txBody>
          <a:bodyPr wrap="square" lIns="0" tIns="0" rIns="0" bIns="0" rtlCol="0" anchor="ctr"/>
          <a:lstStyle/>
          <a:p>
            <a:pPr algn="l" indent="0" marL="0">
              <a:buNone/>
            </a:pPr>
            <a:r>
              <a:rPr lang="en-US" sz="1000" dirty="0">
                <a:solidFill>
                  <a:srgbClr val="4A6978"/>
                </a:solidFill>
                <a:latin typeface="Calibri" pitchFamily="34" charset="0"/>
                <a:ea typeface="Calibri" pitchFamily="34" charset="-122"/>
                <a:cs typeface="Calibri" pitchFamily="34" charset="-120"/>
              </a:rPr>
              <a:t>• Sleep, hydration, exercise</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Daily streak visualization</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Nudge reminders</a:t>
            </a:r>
            <a:endParaRPr lang="en-US" sz="1000" dirty="0"/>
          </a:p>
        </p:txBody>
      </p:sp>
      <p:sp>
        <p:nvSpPr>
          <p:cNvPr id="19" name="Shape 14"/>
          <p:cNvSpPr/>
          <p:nvPr/>
        </p:nvSpPr>
        <p:spPr>
          <a:xfrm>
            <a:off x="411480" y="2834640"/>
            <a:ext cx="2606040" cy="1737360"/>
          </a:xfrm>
          <a:prstGeom prst="roundRect">
            <a:avLst>
              <a:gd name="adj" fmla="val 6316"/>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594360" y="3035808"/>
            <a:ext cx="502920" cy="502920"/>
          </a:xfrm>
          <a:prstGeom prst="rect">
            <a:avLst/>
          </a:prstGeom>
        </p:spPr>
      </p:pic>
      <p:sp>
        <p:nvSpPr>
          <p:cNvPr id="21" name="Text 15"/>
          <p:cNvSpPr/>
          <p:nvPr/>
        </p:nvSpPr>
        <p:spPr>
          <a:xfrm>
            <a:off x="1188720" y="3035808"/>
            <a:ext cx="1691640" cy="457200"/>
          </a:xfrm>
          <a:prstGeom prst="rect">
            <a:avLst/>
          </a:prstGeom>
          <a:noFill/>
          <a:ln/>
        </p:spPr>
        <p:txBody>
          <a:bodyPr wrap="square" lIns="0" tIns="0" rIns="0" bIns="0" rtlCol="0" anchor="ctr"/>
          <a:lstStyle/>
          <a:p>
            <a:pPr algn="l" indent="0" marL="0">
              <a:buNone/>
            </a:pPr>
            <a:r>
              <a:rPr lang="en-US" sz="1200" b="1" dirty="0">
                <a:solidFill>
                  <a:srgbClr val="1E3A4C"/>
                </a:solidFill>
                <a:latin typeface="Calibri" pitchFamily="34" charset="0"/>
                <a:ea typeface="Calibri" pitchFamily="34" charset="-122"/>
                <a:cs typeface="Calibri" pitchFamily="34" charset="-120"/>
              </a:rPr>
              <a:t>Wellness Recommendations</a:t>
            </a:r>
            <a:endParaRPr lang="en-US" sz="1200" dirty="0"/>
          </a:p>
        </p:txBody>
      </p:sp>
      <p:sp>
        <p:nvSpPr>
          <p:cNvPr id="22" name="Text 16"/>
          <p:cNvSpPr/>
          <p:nvPr/>
        </p:nvSpPr>
        <p:spPr>
          <a:xfrm>
            <a:off x="594360" y="3639312"/>
            <a:ext cx="2331720" cy="822960"/>
          </a:xfrm>
          <a:prstGeom prst="rect">
            <a:avLst/>
          </a:prstGeom>
          <a:noFill/>
          <a:ln/>
        </p:spPr>
        <p:txBody>
          <a:bodyPr wrap="square" lIns="0" tIns="0" rIns="0" bIns="0" rtlCol="0" anchor="ctr"/>
          <a:lstStyle/>
          <a:p>
            <a:pPr algn="l" indent="0" marL="0">
              <a:buNone/>
            </a:pPr>
            <a:r>
              <a:rPr lang="en-US" sz="1000" dirty="0">
                <a:solidFill>
                  <a:srgbClr val="4A6978"/>
                </a:solidFill>
                <a:latin typeface="Calibri" pitchFamily="34" charset="0"/>
                <a:ea typeface="Calibri" pitchFamily="34" charset="-122"/>
                <a:cs typeface="Calibri" pitchFamily="34" charset="-120"/>
              </a:rPr>
              <a:t>• AI-driven personalized tips</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Contextual daily suggestions</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Resource library</a:t>
            </a:r>
            <a:endParaRPr lang="en-US" sz="1000" dirty="0"/>
          </a:p>
        </p:txBody>
      </p:sp>
      <p:sp>
        <p:nvSpPr>
          <p:cNvPr id="23" name="Shape 17"/>
          <p:cNvSpPr/>
          <p:nvPr/>
        </p:nvSpPr>
        <p:spPr>
          <a:xfrm>
            <a:off x="3227832" y="2834640"/>
            <a:ext cx="2606040" cy="1737360"/>
          </a:xfrm>
          <a:prstGeom prst="roundRect">
            <a:avLst>
              <a:gd name="adj" fmla="val 6316"/>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24" name="Image 4" descr="preencoded.png">    </p:cNvPr>
          <p:cNvPicPr>
            <a:picLocks noChangeAspect="1"/>
          </p:cNvPicPr>
          <p:nvPr/>
        </p:nvPicPr>
        <p:blipFill>
          <a:blip r:embed="rId5"/>
          <a:stretch>
            <a:fillRect/>
          </a:stretch>
        </p:blipFill>
        <p:spPr>
          <a:xfrm>
            <a:off x="3410712" y="3035808"/>
            <a:ext cx="502920" cy="502920"/>
          </a:xfrm>
          <a:prstGeom prst="rect">
            <a:avLst/>
          </a:prstGeom>
        </p:spPr>
      </p:pic>
      <p:sp>
        <p:nvSpPr>
          <p:cNvPr id="25" name="Text 18"/>
          <p:cNvSpPr/>
          <p:nvPr/>
        </p:nvSpPr>
        <p:spPr>
          <a:xfrm>
            <a:off x="4005072" y="3035808"/>
            <a:ext cx="1691640" cy="457200"/>
          </a:xfrm>
          <a:prstGeom prst="rect">
            <a:avLst/>
          </a:prstGeom>
          <a:noFill/>
          <a:ln/>
        </p:spPr>
        <p:txBody>
          <a:bodyPr wrap="square" lIns="0" tIns="0" rIns="0" bIns="0" rtlCol="0" anchor="ctr"/>
          <a:lstStyle/>
          <a:p>
            <a:pPr algn="l" indent="0" marL="0">
              <a:buNone/>
            </a:pPr>
            <a:r>
              <a:rPr lang="en-US" sz="1200" b="1" dirty="0">
                <a:solidFill>
                  <a:srgbClr val="1E3A4C"/>
                </a:solidFill>
                <a:latin typeface="Calibri" pitchFamily="34" charset="0"/>
                <a:ea typeface="Calibri" pitchFamily="34" charset="-122"/>
                <a:cs typeface="Calibri" pitchFamily="34" charset="-120"/>
              </a:rPr>
              <a:t>Motivation Center</a:t>
            </a:r>
            <a:endParaRPr lang="en-US" sz="1200" dirty="0"/>
          </a:p>
        </p:txBody>
      </p:sp>
      <p:sp>
        <p:nvSpPr>
          <p:cNvPr id="26" name="Text 19"/>
          <p:cNvSpPr/>
          <p:nvPr/>
        </p:nvSpPr>
        <p:spPr>
          <a:xfrm>
            <a:off x="3410712" y="3639312"/>
            <a:ext cx="2331720" cy="822960"/>
          </a:xfrm>
          <a:prstGeom prst="rect">
            <a:avLst/>
          </a:prstGeom>
          <a:noFill/>
          <a:ln/>
        </p:spPr>
        <p:txBody>
          <a:bodyPr wrap="square" lIns="0" tIns="0" rIns="0" bIns="0" rtlCol="0" anchor="ctr"/>
          <a:lstStyle/>
          <a:p>
            <a:pPr algn="l" indent="0" marL="0">
              <a:buNone/>
            </a:pPr>
            <a:r>
              <a:rPr lang="en-US" sz="1000" dirty="0">
                <a:solidFill>
                  <a:srgbClr val="4A6978"/>
                </a:solidFill>
                <a:latin typeface="Calibri" pitchFamily="34" charset="0"/>
                <a:ea typeface="Calibri" pitchFamily="34" charset="-122"/>
                <a:cs typeface="Calibri" pitchFamily="34" charset="-120"/>
              </a:rPr>
              <a:t>• Curated daily affirmations</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Goal setting &amp; milestones</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Progress badges</a:t>
            </a:r>
            <a:endParaRPr lang="en-US" sz="1000" dirty="0"/>
          </a:p>
        </p:txBody>
      </p:sp>
      <p:sp>
        <p:nvSpPr>
          <p:cNvPr id="27" name="Shape 20"/>
          <p:cNvSpPr/>
          <p:nvPr/>
        </p:nvSpPr>
        <p:spPr>
          <a:xfrm>
            <a:off x="6044184" y="2834640"/>
            <a:ext cx="2606040" cy="1737360"/>
          </a:xfrm>
          <a:prstGeom prst="roundRect">
            <a:avLst>
              <a:gd name="adj" fmla="val 6316"/>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28" name="Image 5" descr="preencoded.png">    </p:cNvPr>
          <p:cNvPicPr>
            <a:picLocks noChangeAspect="1"/>
          </p:cNvPicPr>
          <p:nvPr/>
        </p:nvPicPr>
        <p:blipFill>
          <a:blip r:embed="rId6"/>
          <a:stretch>
            <a:fillRect/>
          </a:stretch>
        </p:blipFill>
        <p:spPr>
          <a:xfrm>
            <a:off x="6227064" y="3035808"/>
            <a:ext cx="502920" cy="502920"/>
          </a:xfrm>
          <a:prstGeom prst="rect">
            <a:avLst/>
          </a:prstGeom>
        </p:spPr>
      </p:pic>
      <p:sp>
        <p:nvSpPr>
          <p:cNvPr id="29" name="Text 21"/>
          <p:cNvSpPr/>
          <p:nvPr/>
        </p:nvSpPr>
        <p:spPr>
          <a:xfrm>
            <a:off x="6821424" y="3035808"/>
            <a:ext cx="1691640" cy="457200"/>
          </a:xfrm>
          <a:prstGeom prst="rect">
            <a:avLst/>
          </a:prstGeom>
          <a:noFill/>
          <a:ln/>
        </p:spPr>
        <p:txBody>
          <a:bodyPr wrap="square" lIns="0" tIns="0" rIns="0" bIns="0" rtlCol="0" anchor="ctr"/>
          <a:lstStyle/>
          <a:p>
            <a:pPr algn="l" indent="0" marL="0">
              <a:buNone/>
            </a:pPr>
            <a:r>
              <a:rPr lang="en-US" sz="1200" b="1" dirty="0">
                <a:solidFill>
                  <a:srgbClr val="1E3A4C"/>
                </a:solidFill>
                <a:latin typeface="Calibri" pitchFamily="34" charset="0"/>
                <a:ea typeface="Calibri" pitchFamily="34" charset="-122"/>
                <a:cs typeface="Calibri" pitchFamily="34" charset="-120"/>
              </a:rPr>
              <a:t>Emergency Support</a:t>
            </a:r>
            <a:endParaRPr lang="en-US" sz="1200" dirty="0"/>
          </a:p>
        </p:txBody>
      </p:sp>
      <p:sp>
        <p:nvSpPr>
          <p:cNvPr id="30" name="Text 22"/>
          <p:cNvSpPr/>
          <p:nvPr/>
        </p:nvSpPr>
        <p:spPr>
          <a:xfrm>
            <a:off x="6227064" y="3639312"/>
            <a:ext cx="2331720" cy="822960"/>
          </a:xfrm>
          <a:prstGeom prst="rect">
            <a:avLst/>
          </a:prstGeom>
          <a:noFill/>
          <a:ln/>
        </p:spPr>
        <p:txBody>
          <a:bodyPr wrap="square" lIns="0" tIns="0" rIns="0" bIns="0" rtlCol="0" anchor="ctr"/>
          <a:lstStyle/>
          <a:p>
            <a:pPr algn="l" indent="0" marL="0">
              <a:buNone/>
            </a:pPr>
            <a:r>
              <a:rPr lang="en-US" sz="1000" dirty="0">
                <a:solidFill>
                  <a:srgbClr val="4A6978"/>
                </a:solidFill>
                <a:latin typeface="Calibri" pitchFamily="34" charset="0"/>
                <a:ea typeface="Calibri" pitchFamily="34" charset="-122"/>
                <a:cs typeface="Calibri" pitchFamily="34" charset="-120"/>
              </a:rPr>
              <a:t>• iCall &amp; Vandrevala Helpline</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Crisis SOS quick dial</a:t>
            </a:r>
            <a:endParaRPr lang="en-US" sz="1000" dirty="0"/>
          </a:p>
          <a:p>
            <a:pPr algn="l" indent="0" marL="0">
              <a:buNone/>
            </a:pPr>
            <a:r>
              <a:rPr lang="en-US" sz="1000" dirty="0">
                <a:solidFill>
                  <a:srgbClr val="4A6978"/>
                </a:solidFill>
                <a:latin typeface="Calibri" pitchFamily="34" charset="0"/>
                <a:ea typeface="Calibri" pitchFamily="34" charset="-122"/>
                <a:cs typeface="Calibri" pitchFamily="34" charset="-120"/>
              </a:rPr>
              <a:t>• Confidential chat links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411480" y="164592"/>
            <a:ext cx="8321040" cy="502920"/>
          </a:xfrm>
          <a:prstGeom prst="rect">
            <a:avLst/>
          </a:prstGeom>
          <a:noFill/>
          <a:ln/>
        </p:spPr>
        <p:txBody>
          <a:bodyPr wrap="square" lIns="0" tIns="0" rIns="0" bIns="0" rtlCol="0" anchor="ctr"/>
          <a:lstStyle/>
          <a:p>
            <a:pPr algn="l" indent="0" marL="0">
              <a:buNone/>
            </a:pPr>
            <a:r>
              <a:rPr lang="en-US" sz="2600" b="1" dirty="0">
                <a:solidFill>
                  <a:srgbClr val="1E3A4C"/>
                </a:solidFill>
                <a:latin typeface="Calibri" pitchFamily="34" charset="0"/>
                <a:ea typeface="Calibri" pitchFamily="34" charset="-122"/>
                <a:cs typeface="Calibri" pitchFamily="34" charset="-120"/>
              </a:rPr>
              <a:t>System Architecture &amp; Workflow</a:t>
            </a:r>
            <a:endParaRPr lang="en-US" sz="2600" dirty="0"/>
          </a:p>
        </p:txBody>
      </p:sp>
      <p:sp>
        <p:nvSpPr>
          <p:cNvPr id="3" name="Shape 1"/>
          <p:cNvSpPr/>
          <p:nvPr/>
        </p:nvSpPr>
        <p:spPr>
          <a:xfrm>
            <a:off x="411480" y="749808"/>
            <a:ext cx="73152" cy="73152"/>
          </a:xfrm>
          <a:prstGeom prst="oval">
            <a:avLst/>
          </a:prstGeom>
          <a:solidFill>
            <a:srgbClr val="02C39A"/>
          </a:solidFill>
          <a:ln w="12700">
            <a:solidFill>
              <a:srgbClr val="02C39A"/>
            </a:solidFill>
            <a:prstDash val="solid"/>
          </a:ln>
        </p:spPr>
      </p:sp>
      <p:sp>
        <p:nvSpPr>
          <p:cNvPr id="4" name="Shape 2"/>
          <p:cNvSpPr/>
          <p:nvPr/>
        </p:nvSpPr>
        <p:spPr>
          <a:xfrm>
            <a:off x="548640" y="749808"/>
            <a:ext cx="73152" cy="73152"/>
          </a:xfrm>
          <a:prstGeom prst="oval">
            <a:avLst/>
          </a:prstGeom>
          <a:solidFill>
            <a:srgbClr val="028090"/>
          </a:solidFill>
          <a:ln w="12700">
            <a:solidFill>
              <a:srgbClr val="028090"/>
            </a:solidFill>
            <a:prstDash val="solid"/>
          </a:ln>
        </p:spPr>
      </p:sp>
      <p:sp>
        <p:nvSpPr>
          <p:cNvPr id="5" name="Shape 3"/>
          <p:cNvSpPr/>
          <p:nvPr/>
        </p:nvSpPr>
        <p:spPr>
          <a:xfrm>
            <a:off x="685800" y="749808"/>
            <a:ext cx="73152" cy="73152"/>
          </a:xfrm>
          <a:prstGeom prst="oval">
            <a:avLst/>
          </a:prstGeom>
          <a:solidFill>
            <a:srgbClr val="E2EAF0"/>
          </a:solidFill>
          <a:ln w="12700">
            <a:solidFill>
              <a:srgbClr val="E2EAF0"/>
            </a:solidFill>
            <a:prstDash val="solid"/>
          </a:ln>
        </p:spPr>
      </p:sp>
      <p:sp>
        <p:nvSpPr>
          <p:cNvPr id="6" name="Text 4"/>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7" name="Shape 5"/>
          <p:cNvSpPr/>
          <p:nvPr/>
        </p:nvSpPr>
        <p:spPr>
          <a:xfrm>
            <a:off x="411480" y="914400"/>
            <a:ext cx="2651760" cy="640080"/>
          </a:xfrm>
          <a:prstGeom prst="roundRect">
            <a:avLst>
              <a:gd name="adj" fmla="val 14286"/>
            </a:avLst>
          </a:prstGeom>
          <a:solidFill>
            <a:srgbClr val="02C39A"/>
          </a:solidFill>
          <a:ln w="12700">
            <a:solidFill>
              <a:srgbClr val="02C39A"/>
            </a:solidFill>
            <a:prstDash val="solid"/>
          </a:ln>
        </p:spPr>
      </p:sp>
      <p:pic>
        <p:nvPicPr>
          <p:cNvPr id="8" name="Image 0" descr="preencoded.png">    </p:cNvPr>
          <p:cNvPicPr>
            <a:picLocks noChangeAspect="1"/>
          </p:cNvPicPr>
          <p:nvPr/>
        </p:nvPicPr>
        <p:blipFill>
          <a:blip r:embed="rId1"/>
          <a:stretch>
            <a:fillRect/>
          </a:stretch>
        </p:blipFill>
        <p:spPr>
          <a:xfrm>
            <a:off x="548640" y="1005840"/>
            <a:ext cx="411480" cy="411480"/>
          </a:xfrm>
          <a:prstGeom prst="rect">
            <a:avLst/>
          </a:prstGeom>
        </p:spPr>
      </p:pic>
      <p:sp>
        <p:nvSpPr>
          <p:cNvPr id="9" name="Text 6"/>
          <p:cNvSpPr/>
          <p:nvPr/>
        </p:nvSpPr>
        <p:spPr>
          <a:xfrm>
            <a:off x="1005840" y="969264"/>
            <a:ext cx="192024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Frontend Layer</a:t>
            </a:r>
            <a:endParaRPr lang="en-US" sz="1300" dirty="0"/>
          </a:p>
        </p:txBody>
      </p:sp>
      <p:sp>
        <p:nvSpPr>
          <p:cNvPr id="10" name="Text 7"/>
          <p:cNvSpPr/>
          <p:nvPr/>
        </p:nvSpPr>
        <p:spPr>
          <a:xfrm>
            <a:off x="1005840" y="1243584"/>
            <a:ext cx="1920240" cy="2286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React.js + Tailwind CSS</a:t>
            </a:r>
            <a:endParaRPr lang="en-US" sz="950" dirty="0"/>
          </a:p>
        </p:txBody>
      </p:sp>
      <p:sp>
        <p:nvSpPr>
          <p:cNvPr id="11" name="Shape 8"/>
          <p:cNvSpPr/>
          <p:nvPr/>
        </p:nvSpPr>
        <p:spPr>
          <a:xfrm>
            <a:off x="411480" y="1627632"/>
            <a:ext cx="2651760" cy="2011680"/>
          </a:xfrm>
          <a:prstGeom prst="roundRect">
            <a:avLst>
              <a:gd name="adj" fmla="val 5455"/>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12" name="Text 9"/>
          <p:cNvSpPr/>
          <p:nvPr/>
        </p:nvSpPr>
        <p:spPr>
          <a:xfrm>
            <a:off x="594360" y="1737360"/>
            <a:ext cx="2331720" cy="1783080"/>
          </a:xfrm>
          <a:prstGeom prst="rect">
            <a:avLst/>
          </a:prstGeom>
          <a:noFill/>
          <a:ln/>
        </p:spPr>
        <p:txBody>
          <a:bodyPr wrap="square" lIns="0" tIns="0" rIns="0" bIns="0" rtlCol="0" anchor="ctr"/>
          <a:lstStyle/>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Dashboard</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Mood UI</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Habit UI</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Assessment UI</a:t>
            </a:r>
            <a:endParaRPr lang="en-US" sz="1200" dirty="0"/>
          </a:p>
        </p:txBody>
      </p:sp>
      <p:sp>
        <p:nvSpPr>
          <p:cNvPr id="13" name="Shape 10"/>
          <p:cNvSpPr/>
          <p:nvPr/>
        </p:nvSpPr>
        <p:spPr>
          <a:xfrm>
            <a:off x="3063240" y="2286000"/>
            <a:ext cx="201168" cy="0"/>
          </a:xfrm>
          <a:prstGeom prst="line">
            <a:avLst/>
          </a:prstGeom>
          <a:noFill/>
          <a:ln w="31750">
            <a:solidFill>
              <a:srgbClr val="028090"/>
            </a:solidFill>
            <a:prstDash val="solid"/>
          </a:ln>
        </p:spPr>
      </p:sp>
      <p:sp>
        <p:nvSpPr>
          <p:cNvPr id="14" name="Shape 11"/>
          <p:cNvSpPr/>
          <p:nvPr/>
        </p:nvSpPr>
        <p:spPr>
          <a:xfrm>
            <a:off x="3264408" y="914400"/>
            <a:ext cx="2651760" cy="640080"/>
          </a:xfrm>
          <a:prstGeom prst="roundRect">
            <a:avLst>
              <a:gd name="adj" fmla="val 14286"/>
            </a:avLst>
          </a:prstGeom>
          <a:solidFill>
            <a:srgbClr val="028090"/>
          </a:solidFill>
          <a:ln w="12700">
            <a:solidFill>
              <a:srgbClr val="028090"/>
            </a:solidFill>
            <a:prstDash val="solid"/>
          </a:ln>
        </p:spPr>
      </p:sp>
      <p:pic>
        <p:nvPicPr>
          <p:cNvPr id="15" name="Image 1" descr="preencoded.png">    </p:cNvPr>
          <p:cNvPicPr>
            <a:picLocks noChangeAspect="1"/>
          </p:cNvPicPr>
          <p:nvPr/>
        </p:nvPicPr>
        <p:blipFill>
          <a:blip r:embed="rId2"/>
          <a:stretch>
            <a:fillRect/>
          </a:stretch>
        </p:blipFill>
        <p:spPr>
          <a:xfrm>
            <a:off x="3401568" y="1005840"/>
            <a:ext cx="411480" cy="411480"/>
          </a:xfrm>
          <a:prstGeom prst="rect">
            <a:avLst/>
          </a:prstGeom>
        </p:spPr>
      </p:pic>
      <p:sp>
        <p:nvSpPr>
          <p:cNvPr id="16" name="Text 12"/>
          <p:cNvSpPr/>
          <p:nvPr/>
        </p:nvSpPr>
        <p:spPr>
          <a:xfrm>
            <a:off x="3858768" y="969264"/>
            <a:ext cx="192024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Backend Layer</a:t>
            </a:r>
            <a:endParaRPr lang="en-US" sz="1300" dirty="0"/>
          </a:p>
        </p:txBody>
      </p:sp>
      <p:sp>
        <p:nvSpPr>
          <p:cNvPr id="17" name="Text 13"/>
          <p:cNvSpPr/>
          <p:nvPr/>
        </p:nvSpPr>
        <p:spPr>
          <a:xfrm>
            <a:off x="3858768" y="1243584"/>
            <a:ext cx="1920240" cy="2286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FastAPI (Python)</a:t>
            </a:r>
            <a:endParaRPr lang="en-US" sz="950" dirty="0"/>
          </a:p>
        </p:txBody>
      </p:sp>
      <p:sp>
        <p:nvSpPr>
          <p:cNvPr id="18" name="Shape 14"/>
          <p:cNvSpPr/>
          <p:nvPr/>
        </p:nvSpPr>
        <p:spPr>
          <a:xfrm>
            <a:off x="3264408" y="1627632"/>
            <a:ext cx="2651760" cy="2011680"/>
          </a:xfrm>
          <a:prstGeom prst="roundRect">
            <a:avLst>
              <a:gd name="adj" fmla="val 5455"/>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19" name="Text 15"/>
          <p:cNvSpPr/>
          <p:nvPr/>
        </p:nvSpPr>
        <p:spPr>
          <a:xfrm>
            <a:off x="3447288" y="1737360"/>
            <a:ext cx="2331720" cy="1783080"/>
          </a:xfrm>
          <a:prstGeom prst="rect">
            <a:avLst/>
          </a:prstGeom>
          <a:noFill/>
          <a:ln/>
        </p:spPr>
        <p:txBody>
          <a:bodyPr wrap="square" lIns="0" tIns="0" rIns="0" bIns="0" rtlCol="0" anchor="ctr"/>
          <a:lstStyle/>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REST API</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Recommendation Engine</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Stress Algorithm</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Auth &amp; Sessions</a:t>
            </a:r>
            <a:endParaRPr lang="en-US" sz="1200" dirty="0"/>
          </a:p>
        </p:txBody>
      </p:sp>
      <p:sp>
        <p:nvSpPr>
          <p:cNvPr id="20" name="Shape 16"/>
          <p:cNvSpPr/>
          <p:nvPr/>
        </p:nvSpPr>
        <p:spPr>
          <a:xfrm>
            <a:off x="5916168" y="2286000"/>
            <a:ext cx="201168" cy="0"/>
          </a:xfrm>
          <a:prstGeom prst="line">
            <a:avLst/>
          </a:prstGeom>
          <a:noFill/>
          <a:ln w="31750">
            <a:solidFill>
              <a:srgbClr val="028090"/>
            </a:solidFill>
            <a:prstDash val="solid"/>
          </a:ln>
        </p:spPr>
      </p:sp>
      <p:sp>
        <p:nvSpPr>
          <p:cNvPr id="21" name="Shape 17"/>
          <p:cNvSpPr/>
          <p:nvPr/>
        </p:nvSpPr>
        <p:spPr>
          <a:xfrm>
            <a:off x="6117336" y="914400"/>
            <a:ext cx="2651760" cy="640080"/>
          </a:xfrm>
          <a:prstGeom prst="roundRect">
            <a:avLst>
              <a:gd name="adj" fmla="val 14286"/>
            </a:avLst>
          </a:prstGeom>
          <a:solidFill>
            <a:srgbClr val="1E3A4C"/>
          </a:solidFill>
          <a:ln w="12700">
            <a:solidFill>
              <a:srgbClr val="1E3A4C"/>
            </a:solidFill>
            <a:prstDash val="solid"/>
          </a:ln>
        </p:spPr>
      </p:sp>
      <p:pic>
        <p:nvPicPr>
          <p:cNvPr id="22" name="Image 2" descr="preencoded.png">    </p:cNvPr>
          <p:cNvPicPr>
            <a:picLocks noChangeAspect="1"/>
          </p:cNvPicPr>
          <p:nvPr/>
        </p:nvPicPr>
        <p:blipFill>
          <a:blip r:embed="rId3"/>
          <a:stretch>
            <a:fillRect/>
          </a:stretch>
        </p:blipFill>
        <p:spPr>
          <a:xfrm>
            <a:off x="6254496" y="1005840"/>
            <a:ext cx="411480" cy="411480"/>
          </a:xfrm>
          <a:prstGeom prst="rect">
            <a:avLst/>
          </a:prstGeom>
        </p:spPr>
      </p:pic>
      <p:sp>
        <p:nvSpPr>
          <p:cNvPr id="23" name="Text 18"/>
          <p:cNvSpPr/>
          <p:nvPr/>
        </p:nvSpPr>
        <p:spPr>
          <a:xfrm>
            <a:off x="6711696" y="969264"/>
            <a:ext cx="192024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Storage Layer</a:t>
            </a:r>
            <a:endParaRPr lang="en-US" sz="1300" dirty="0"/>
          </a:p>
        </p:txBody>
      </p:sp>
      <p:sp>
        <p:nvSpPr>
          <p:cNvPr id="24" name="Text 19"/>
          <p:cNvSpPr/>
          <p:nvPr/>
        </p:nvSpPr>
        <p:spPr>
          <a:xfrm>
            <a:off x="6711696" y="1243584"/>
            <a:ext cx="1920240" cy="228600"/>
          </a:xfrm>
          <a:prstGeom prst="rect">
            <a:avLst/>
          </a:prstGeom>
          <a:noFill/>
          <a:ln/>
        </p:spPr>
        <p:txBody>
          <a:bodyPr wrap="square" lIns="0" tIns="0" rIns="0" bIns="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Local Storage / JSON</a:t>
            </a:r>
            <a:endParaRPr lang="en-US" sz="950" dirty="0"/>
          </a:p>
        </p:txBody>
      </p:sp>
      <p:sp>
        <p:nvSpPr>
          <p:cNvPr id="25" name="Shape 20"/>
          <p:cNvSpPr/>
          <p:nvPr/>
        </p:nvSpPr>
        <p:spPr>
          <a:xfrm>
            <a:off x="6117336" y="1627632"/>
            <a:ext cx="2651760" cy="2011680"/>
          </a:xfrm>
          <a:prstGeom prst="roundRect">
            <a:avLst>
              <a:gd name="adj" fmla="val 5455"/>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26" name="Text 21"/>
          <p:cNvSpPr/>
          <p:nvPr/>
        </p:nvSpPr>
        <p:spPr>
          <a:xfrm>
            <a:off x="6300216" y="1737360"/>
            <a:ext cx="2331720" cy="1783080"/>
          </a:xfrm>
          <a:prstGeom prst="rect">
            <a:avLst/>
          </a:prstGeom>
          <a:noFill/>
          <a:ln/>
        </p:spPr>
        <p:txBody>
          <a:bodyPr wrap="square" lIns="0" tIns="0" rIns="0" bIns="0" rtlCol="0" anchor="ctr"/>
          <a:lstStyle/>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User Profiles</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Mood Logs</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Habit Data</a:t>
            </a:r>
            <a:endParaRPr lang="en-US" sz="1200" dirty="0"/>
          </a:p>
          <a:p>
            <a:pPr algn="l" indent="0" marL="0">
              <a:spcAft>
                <a:spcPts val="500"/>
              </a:spcAft>
              <a:buNone/>
            </a:pPr>
            <a:r>
              <a:rPr lang="en-US" sz="1200" dirty="0">
                <a:solidFill>
                  <a:srgbClr val="1E3A4C"/>
                </a:solidFill>
                <a:latin typeface="Calibri" pitchFamily="34" charset="0"/>
                <a:ea typeface="Calibri" pitchFamily="34" charset="-122"/>
                <a:cs typeface="Calibri" pitchFamily="34" charset="-120"/>
              </a:rPr>
              <a:t>• Quiz Results</a:t>
            </a:r>
            <a:endParaRPr lang="en-US" sz="1200" dirty="0"/>
          </a:p>
        </p:txBody>
      </p:sp>
      <p:sp>
        <p:nvSpPr>
          <p:cNvPr id="27" name="Shape 22"/>
          <p:cNvSpPr/>
          <p:nvPr/>
        </p:nvSpPr>
        <p:spPr>
          <a:xfrm>
            <a:off x="411480" y="3794760"/>
            <a:ext cx="8321040" cy="868680"/>
          </a:xfrm>
          <a:prstGeom prst="roundRect">
            <a:avLst>
              <a:gd name="adj" fmla="val 10526"/>
            </a:avLst>
          </a:prstGeom>
          <a:solidFill>
            <a:srgbClr val="E6F7F9"/>
          </a:solidFill>
          <a:ln w="12700">
            <a:solidFill>
              <a:srgbClr val="028090"/>
            </a:solidFill>
            <a:prstDash val="solid"/>
          </a:ln>
        </p:spPr>
      </p:sp>
      <p:sp>
        <p:nvSpPr>
          <p:cNvPr id="28" name="Text 23"/>
          <p:cNvSpPr/>
          <p:nvPr/>
        </p:nvSpPr>
        <p:spPr>
          <a:xfrm>
            <a:off x="594360" y="3858768"/>
            <a:ext cx="7955280" cy="731520"/>
          </a:xfrm>
          <a:prstGeom prst="rect">
            <a:avLst/>
          </a:prstGeom>
          <a:noFill/>
          <a:ln/>
        </p:spPr>
        <p:txBody>
          <a:bodyPr wrap="square" lIns="0" tIns="0" rIns="0" bIns="0" rtlCol="0" anchor="ctr"/>
          <a:lstStyle/>
          <a:p>
            <a:pPr algn="l" indent="0" marL="0">
              <a:buNone/>
            </a:pPr>
            <a:r>
              <a:rPr lang="en-US" sz="1200" dirty="0">
                <a:solidFill>
                  <a:srgbClr val="015F6B"/>
                </a:solidFill>
                <a:latin typeface="Calibri" pitchFamily="34" charset="0"/>
                <a:ea typeface="Calibri" pitchFamily="34" charset="-122"/>
                <a:cs typeface="Calibri" pitchFamily="34" charset="-120"/>
              </a:rPr>
              <a:t>User Flow:   Student Login  →  Dashboard  →  Log Mood / Take Quiz / Track Habits  →  Get Recommendations  →  View Progress  →  SOS if needed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B36"/>
        </a:solidFill>
      </p:bgPr>
    </p:bg>
    <p:spTree>
      <p:nvGrpSpPr>
        <p:cNvPr id="1" name=""/>
        <p:cNvGrpSpPr/>
        <p:nvPr/>
      </p:nvGrpSpPr>
      <p:grpSpPr>
        <a:xfrm>
          <a:off x="0" y="0"/>
          <a:ext cx="0" cy="0"/>
          <a:chOff x="0" y="0"/>
          <a:chExt cx="0" cy="0"/>
        </a:xfrm>
      </p:grpSpPr>
      <p:sp>
        <p:nvSpPr>
          <p:cNvPr id="2" name="Text 0"/>
          <p:cNvSpPr/>
          <p:nvPr/>
        </p:nvSpPr>
        <p:spPr>
          <a:xfrm>
            <a:off x="411480" y="137160"/>
            <a:ext cx="6400800" cy="457200"/>
          </a:xfrm>
          <a:prstGeom prst="rect">
            <a:avLst/>
          </a:prstGeom>
          <a:noFill/>
          <a:ln/>
        </p:spPr>
        <p:txBody>
          <a:bodyPr wrap="square" lIns="0" tIns="0" rIns="0" bIns="0" rtlCol="0" anchor="ctr"/>
          <a:lstStyle/>
          <a:p>
            <a:pPr algn="l" indent="0" marL="0">
              <a:buNone/>
            </a:pPr>
            <a:r>
              <a:rPr lang="en-US" sz="2600" b="1" dirty="0">
                <a:solidFill>
                  <a:srgbClr val="02C39A"/>
                </a:solidFill>
                <a:latin typeface="Calibri" pitchFamily="34" charset="0"/>
                <a:ea typeface="Calibri" pitchFamily="34" charset="-122"/>
                <a:cs typeface="Calibri" pitchFamily="34" charset="-120"/>
              </a:rPr>
              <a:t>Live Demo Flow</a:t>
            </a:r>
            <a:endParaRPr lang="en-US" sz="2600" dirty="0"/>
          </a:p>
        </p:txBody>
      </p:sp>
      <p:sp>
        <p:nvSpPr>
          <p:cNvPr id="3" name="Text 1"/>
          <p:cNvSpPr/>
          <p:nvPr/>
        </p:nvSpPr>
        <p:spPr>
          <a:xfrm>
            <a:off x="411480" y="594360"/>
            <a:ext cx="8321040" cy="237744"/>
          </a:xfrm>
          <a:prstGeom prst="rect">
            <a:avLst/>
          </a:prstGeom>
          <a:noFill/>
          <a:ln/>
        </p:spPr>
        <p:txBody>
          <a:bodyPr wrap="square" lIns="0" tIns="0" rIns="0" bIns="0" rtlCol="0" anchor="ctr"/>
          <a:lstStyle/>
          <a:p>
            <a:pPr algn="l" indent="0" marL="0">
              <a:buNone/>
            </a:pPr>
            <a:r>
              <a:rPr lang="en-US" sz="1200" i="1" dirty="0">
                <a:solidFill>
                  <a:srgbClr val="E2EAF0"/>
                </a:solidFill>
                <a:latin typeface="Calibri" pitchFamily="34" charset="0"/>
                <a:ea typeface="Calibri" pitchFamily="34" charset="-122"/>
                <a:cs typeface="Calibri" pitchFamily="34" charset="-120"/>
              </a:rPr>
              <a:t>A student's daily journey — 5 minutes, 6 steps</a:t>
            </a:r>
            <a:endParaRPr lang="en-US" sz="1200" dirty="0"/>
          </a:p>
        </p:txBody>
      </p:sp>
      <p:sp>
        <p:nvSpPr>
          <p:cNvPr id="4" name="Shape 2"/>
          <p:cNvSpPr/>
          <p:nvPr/>
        </p:nvSpPr>
        <p:spPr>
          <a:xfrm>
            <a:off x="1104900" y="2651760"/>
            <a:ext cx="6934200" cy="0"/>
          </a:xfrm>
          <a:prstGeom prst="line">
            <a:avLst/>
          </a:prstGeom>
          <a:noFill/>
          <a:ln w="25400">
            <a:solidFill>
              <a:srgbClr val="028090"/>
            </a:solidFill>
            <a:prstDash val="dash"/>
          </a:ln>
        </p:spPr>
      </p:sp>
      <p:sp>
        <p:nvSpPr>
          <p:cNvPr id="5" name="Shape 3"/>
          <p:cNvSpPr/>
          <p:nvPr/>
        </p:nvSpPr>
        <p:spPr>
          <a:xfrm>
            <a:off x="757428" y="2304288"/>
            <a:ext cx="694944" cy="694944"/>
          </a:xfrm>
          <a:prstGeom prst="ellipse">
            <a:avLst/>
          </a:prstGeom>
          <a:solidFill>
            <a:srgbClr val="02C39A"/>
          </a:solidFill>
          <a:ln w="31750">
            <a:solidFill>
              <a:srgbClr val="0D2B3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757428" y="2304288"/>
            <a:ext cx="694944" cy="69494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Shape 5"/>
          <p:cNvSpPr/>
          <p:nvPr/>
        </p:nvSpPr>
        <p:spPr>
          <a:xfrm>
            <a:off x="466344" y="3136392"/>
            <a:ext cx="1277112" cy="1325880"/>
          </a:xfrm>
          <a:prstGeom prst="roundRect">
            <a:avLst>
              <a:gd name="adj" fmla="val 7160"/>
            </a:avLst>
          </a:prstGeom>
          <a:solidFill>
            <a:srgbClr val="112535"/>
          </a:solidFill>
          <a:ln w="19050">
            <a:solidFill>
              <a:srgbClr val="02C39A"/>
            </a:solidFill>
            <a:prstDash val="solid"/>
          </a:ln>
          <a:effectLst>
            <a:outerShdw sx="100000" sy="100000" kx="0" ky="0" algn="bl" rotWithShape="0" blurRad="101600" dist="38100" dir="2700000">
              <a:srgbClr val="000000">
                <a:alpha val="25000"/>
              </a:srgbClr>
            </a:outerShdw>
          </a:effectLst>
        </p:spPr>
      </p:sp>
      <p:pic>
        <p:nvPicPr>
          <p:cNvPr id="8" name="Image 0" descr="preencoded.png">    </p:cNvPr>
          <p:cNvPicPr>
            <a:picLocks noChangeAspect="1"/>
          </p:cNvPicPr>
          <p:nvPr/>
        </p:nvPicPr>
        <p:blipFill>
          <a:blip r:embed="rId1"/>
          <a:stretch>
            <a:fillRect/>
          </a:stretch>
        </p:blipFill>
        <p:spPr>
          <a:xfrm>
            <a:off x="876300" y="3227832"/>
            <a:ext cx="457200" cy="457200"/>
          </a:xfrm>
          <a:prstGeom prst="rect">
            <a:avLst/>
          </a:prstGeom>
        </p:spPr>
      </p:pic>
      <p:sp>
        <p:nvSpPr>
          <p:cNvPr id="9" name="Text 6"/>
          <p:cNvSpPr/>
          <p:nvPr/>
        </p:nvSpPr>
        <p:spPr>
          <a:xfrm>
            <a:off x="521208" y="3703320"/>
            <a:ext cx="1167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Login &amp; Onboard</a:t>
            </a:r>
            <a:endParaRPr lang="en-US" sz="1050" dirty="0"/>
          </a:p>
        </p:txBody>
      </p:sp>
      <p:sp>
        <p:nvSpPr>
          <p:cNvPr id="10" name="Text 7"/>
          <p:cNvSpPr/>
          <p:nvPr/>
        </p:nvSpPr>
        <p:spPr>
          <a:xfrm>
            <a:off x="521208" y="3995928"/>
            <a:ext cx="1167384" cy="402336"/>
          </a:xfrm>
          <a:prstGeom prst="rect">
            <a:avLst/>
          </a:prstGeom>
          <a:noFill/>
          <a:ln/>
        </p:spPr>
        <p:txBody>
          <a:bodyPr wrap="square" lIns="0" tIns="0" rIns="0" bIns="0" rtlCol="0" anchor="ctr"/>
          <a:lstStyle/>
          <a:p>
            <a:pPr algn="ctr" indent="0" marL="0">
              <a:buNone/>
            </a:pPr>
            <a:r>
              <a:rPr lang="en-US" sz="900" dirty="0">
                <a:solidFill>
                  <a:srgbClr val="E2EAF0"/>
                </a:solidFill>
                <a:latin typeface="Calibri" pitchFamily="34" charset="0"/>
                <a:ea typeface="Calibri" pitchFamily="34" charset="-122"/>
                <a:cs typeface="Calibri" pitchFamily="34" charset="-120"/>
              </a:rPr>
              <a:t>Register</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Set goals</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Choose reminder</a:t>
            </a:r>
            <a:endParaRPr lang="en-US" sz="900" dirty="0"/>
          </a:p>
        </p:txBody>
      </p:sp>
      <p:sp>
        <p:nvSpPr>
          <p:cNvPr id="11" name="Shape 8"/>
          <p:cNvSpPr/>
          <p:nvPr/>
        </p:nvSpPr>
        <p:spPr>
          <a:xfrm>
            <a:off x="2144268" y="2304288"/>
            <a:ext cx="694944" cy="694944"/>
          </a:xfrm>
          <a:prstGeom prst="ellipse">
            <a:avLst/>
          </a:prstGeom>
          <a:solidFill>
            <a:srgbClr val="028090"/>
          </a:solidFill>
          <a:ln w="31750">
            <a:solidFill>
              <a:srgbClr val="0D2B36"/>
            </a:solidFill>
            <a:prstDash val="solid"/>
          </a:ln>
          <a:effectLst>
            <a:outerShdw sx="100000" sy="100000" kx="0" ky="0" algn="bl" rotWithShape="0" blurRad="101600" dist="38100" dir="2700000">
              <a:srgbClr val="000000">
                <a:alpha val="35000"/>
              </a:srgbClr>
            </a:outerShdw>
          </a:effectLst>
        </p:spPr>
      </p:sp>
      <p:sp>
        <p:nvSpPr>
          <p:cNvPr id="12" name="Text 9"/>
          <p:cNvSpPr/>
          <p:nvPr/>
        </p:nvSpPr>
        <p:spPr>
          <a:xfrm>
            <a:off x="2144268" y="2304288"/>
            <a:ext cx="694944" cy="69494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Shape 10"/>
          <p:cNvSpPr/>
          <p:nvPr/>
        </p:nvSpPr>
        <p:spPr>
          <a:xfrm>
            <a:off x="1853184" y="841248"/>
            <a:ext cx="1277112" cy="1325880"/>
          </a:xfrm>
          <a:prstGeom prst="roundRect">
            <a:avLst>
              <a:gd name="adj" fmla="val 7160"/>
            </a:avLst>
          </a:prstGeom>
          <a:solidFill>
            <a:srgbClr val="112535"/>
          </a:solidFill>
          <a:ln w="19050">
            <a:solidFill>
              <a:srgbClr val="028090"/>
            </a:solidFill>
            <a:prstDash val="solid"/>
          </a:ln>
          <a:effectLst>
            <a:outerShdw sx="100000" sy="100000" kx="0" ky="0" algn="bl" rotWithShape="0" blurRad="101600" dist="38100" dir="2700000">
              <a:srgbClr val="000000">
                <a:alpha val="25000"/>
              </a:srgbClr>
            </a:outerShdw>
          </a:effectLst>
        </p:spPr>
      </p:sp>
      <p:pic>
        <p:nvPicPr>
          <p:cNvPr id="14" name="Image 1" descr="preencoded.png">    </p:cNvPr>
          <p:cNvPicPr>
            <a:picLocks noChangeAspect="1"/>
          </p:cNvPicPr>
          <p:nvPr/>
        </p:nvPicPr>
        <p:blipFill>
          <a:blip r:embed="rId2"/>
          <a:stretch>
            <a:fillRect/>
          </a:stretch>
        </p:blipFill>
        <p:spPr>
          <a:xfrm>
            <a:off x="2263140" y="932688"/>
            <a:ext cx="457200" cy="457200"/>
          </a:xfrm>
          <a:prstGeom prst="rect">
            <a:avLst/>
          </a:prstGeom>
        </p:spPr>
      </p:pic>
      <p:sp>
        <p:nvSpPr>
          <p:cNvPr id="15" name="Text 11"/>
          <p:cNvSpPr/>
          <p:nvPr/>
        </p:nvSpPr>
        <p:spPr>
          <a:xfrm>
            <a:off x="1908048" y="1408176"/>
            <a:ext cx="1167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Log Mood</a:t>
            </a:r>
            <a:endParaRPr lang="en-US" sz="1050" dirty="0"/>
          </a:p>
        </p:txBody>
      </p:sp>
      <p:sp>
        <p:nvSpPr>
          <p:cNvPr id="16" name="Text 12"/>
          <p:cNvSpPr/>
          <p:nvPr/>
        </p:nvSpPr>
        <p:spPr>
          <a:xfrm>
            <a:off x="1908048" y="1700784"/>
            <a:ext cx="1167384" cy="402336"/>
          </a:xfrm>
          <a:prstGeom prst="rect">
            <a:avLst/>
          </a:prstGeom>
          <a:noFill/>
          <a:ln/>
        </p:spPr>
        <p:txBody>
          <a:bodyPr wrap="square" lIns="0" tIns="0" rIns="0" bIns="0" rtlCol="0" anchor="ctr"/>
          <a:lstStyle/>
          <a:p>
            <a:pPr algn="ctr" indent="0" marL="0">
              <a:buNone/>
            </a:pPr>
            <a:r>
              <a:rPr lang="en-US" sz="900" dirty="0">
                <a:solidFill>
                  <a:srgbClr val="E2EAF0"/>
                </a:solidFill>
                <a:latin typeface="Calibri" pitchFamily="34" charset="0"/>
                <a:ea typeface="Calibri" pitchFamily="34" charset="-122"/>
                <a:cs typeface="Calibri" pitchFamily="34" charset="-120"/>
              </a:rPr>
              <a:t>Pick emoji</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Rate 1–10</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Trend chart</a:t>
            </a:r>
            <a:endParaRPr lang="en-US" sz="900" dirty="0"/>
          </a:p>
        </p:txBody>
      </p:sp>
      <p:sp>
        <p:nvSpPr>
          <p:cNvPr id="17" name="Shape 13"/>
          <p:cNvSpPr/>
          <p:nvPr/>
        </p:nvSpPr>
        <p:spPr>
          <a:xfrm>
            <a:off x="3531108" y="2304288"/>
            <a:ext cx="694944" cy="694944"/>
          </a:xfrm>
          <a:prstGeom prst="ellipse">
            <a:avLst/>
          </a:prstGeom>
          <a:solidFill>
            <a:srgbClr val="02C39A"/>
          </a:solidFill>
          <a:ln w="31750">
            <a:solidFill>
              <a:srgbClr val="0D2B36"/>
            </a:solidFill>
            <a:prstDash val="solid"/>
          </a:ln>
          <a:effectLst>
            <a:outerShdw sx="100000" sy="100000" kx="0" ky="0" algn="bl" rotWithShape="0" blurRad="101600" dist="38100" dir="2700000">
              <a:srgbClr val="000000">
                <a:alpha val="35000"/>
              </a:srgbClr>
            </a:outerShdw>
          </a:effectLst>
        </p:spPr>
      </p:sp>
      <p:sp>
        <p:nvSpPr>
          <p:cNvPr id="18" name="Text 14"/>
          <p:cNvSpPr/>
          <p:nvPr/>
        </p:nvSpPr>
        <p:spPr>
          <a:xfrm>
            <a:off x="3531108" y="2304288"/>
            <a:ext cx="694944" cy="69494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Shape 15"/>
          <p:cNvSpPr/>
          <p:nvPr/>
        </p:nvSpPr>
        <p:spPr>
          <a:xfrm>
            <a:off x="3240024" y="3136392"/>
            <a:ext cx="1277112" cy="1325880"/>
          </a:xfrm>
          <a:prstGeom prst="roundRect">
            <a:avLst>
              <a:gd name="adj" fmla="val 7160"/>
            </a:avLst>
          </a:prstGeom>
          <a:solidFill>
            <a:srgbClr val="112535"/>
          </a:solidFill>
          <a:ln w="19050">
            <a:solidFill>
              <a:srgbClr val="02C39A"/>
            </a:solidFill>
            <a:prstDash val="solid"/>
          </a:ln>
          <a:effectLst>
            <a:outerShdw sx="100000" sy="100000" kx="0" ky="0" algn="bl" rotWithShape="0" blurRad="101600" dist="38100" dir="2700000">
              <a:srgbClr val="000000">
                <a:alpha val="25000"/>
              </a:srgbClr>
            </a:outerShdw>
          </a:effectLst>
        </p:spPr>
      </p:sp>
      <p:pic>
        <p:nvPicPr>
          <p:cNvPr id="20" name="Image 2" descr="preencoded.png">    </p:cNvPr>
          <p:cNvPicPr>
            <a:picLocks noChangeAspect="1"/>
          </p:cNvPicPr>
          <p:nvPr/>
        </p:nvPicPr>
        <p:blipFill>
          <a:blip r:embed="rId3"/>
          <a:stretch>
            <a:fillRect/>
          </a:stretch>
        </p:blipFill>
        <p:spPr>
          <a:xfrm>
            <a:off x="3649980" y="3227832"/>
            <a:ext cx="457200" cy="457200"/>
          </a:xfrm>
          <a:prstGeom prst="rect">
            <a:avLst/>
          </a:prstGeom>
        </p:spPr>
      </p:pic>
      <p:sp>
        <p:nvSpPr>
          <p:cNvPr id="21" name="Text 16"/>
          <p:cNvSpPr/>
          <p:nvPr/>
        </p:nvSpPr>
        <p:spPr>
          <a:xfrm>
            <a:off x="3294888" y="3703320"/>
            <a:ext cx="1167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Stress Quiz</a:t>
            </a:r>
            <a:endParaRPr lang="en-US" sz="1050" dirty="0"/>
          </a:p>
        </p:txBody>
      </p:sp>
      <p:sp>
        <p:nvSpPr>
          <p:cNvPr id="22" name="Text 17"/>
          <p:cNvSpPr/>
          <p:nvPr/>
        </p:nvSpPr>
        <p:spPr>
          <a:xfrm>
            <a:off x="3294888" y="3995928"/>
            <a:ext cx="1167384" cy="402336"/>
          </a:xfrm>
          <a:prstGeom prst="rect">
            <a:avLst/>
          </a:prstGeom>
          <a:noFill/>
          <a:ln/>
        </p:spPr>
        <p:txBody>
          <a:bodyPr wrap="square" lIns="0" tIns="0" rIns="0" bIns="0" rtlCol="0" anchor="ctr"/>
          <a:lstStyle/>
          <a:p>
            <a:pPr algn="ctr" indent="0" marL="0">
              <a:buNone/>
            </a:pPr>
            <a:r>
              <a:rPr lang="en-US" sz="900" dirty="0">
                <a:solidFill>
                  <a:srgbClr val="E2EAF0"/>
                </a:solidFill>
                <a:latin typeface="Calibri" pitchFamily="34" charset="0"/>
                <a:ea typeface="Calibri" pitchFamily="34" charset="-122"/>
                <a:cs typeface="Calibri" pitchFamily="34" charset="-120"/>
              </a:rPr>
              <a:t>10 PSS questions</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Instant score</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Low/Med/High</a:t>
            </a:r>
            <a:endParaRPr lang="en-US" sz="900" dirty="0"/>
          </a:p>
        </p:txBody>
      </p:sp>
      <p:sp>
        <p:nvSpPr>
          <p:cNvPr id="23" name="Shape 18"/>
          <p:cNvSpPr/>
          <p:nvPr/>
        </p:nvSpPr>
        <p:spPr>
          <a:xfrm>
            <a:off x="4917948" y="2304288"/>
            <a:ext cx="694944" cy="694944"/>
          </a:xfrm>
          <a:prstGeom prst="ellipse">
            <a:avLst/>
          </a:prstGeom>
          <a:solidFill>
            <a:srgbClr val="028090"/>
          </a:solidFill>
          <a:ln w="31750">
            <a:solidFill>
              <a:srgbClr val="0D2B36"/>
            </a:solidFill>
            <a:prstDash val="solid"/>
          </a:ln>
          <a:effectLst>
            <a:outerShdw sx="100000" sy="100000" kx="0" ky="0" algn="bl" rotWithShape="0" blurRad="101600" dist="38100" dir="2700000">
              <a:srgbClr val="000000">
                <a:alpha val="35000"/>
              </a:srgbClr>
            </a:outerShdw>
          </a:effectLst>
        </p:spPr>
      </p:sp>
      <p:sp>
        <p:nvSpPr>
          <p:cNvPr id="24" name="Text 19"/>
          <p:cNvSpPr/>
          <p:nvPr/>
        </p:nvSpPr>
        <p:spPr>
          <a:xfrm>
            <a:off x="4917948" y="2304288"/>
            <a:ext cx="694944" cy="69494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Shape 20"/>
          <p:cNvSpPr/>
          <p:nvPr/>
        </p:nvSpPr>
        <p:spPr>
          <a:xfrm>
            <a:off x="4626864" y="841248"/>
            <a:ext cx="1277112" cy="1325880"/>
          </a:xfrm>
          <a:prstGeom prst="roundRect">
            <a:avLst>
              <a:gd name="adj" fmla="val 7160"/>
            </a:avLst>
          </a:prstGeom>
          <a:solidFill>
            <a:srgbClr val="112535"/>
          </a:solidFill>
          <a:ln w="19050">
            <a:solidFill>
              <a:srgbClr val="028090"/>
            </a:solidFill>
            <a:prstDash val="solid"/>
          </a:ln>
          <a:effectLst>
            <a:outerShdw sx="100000" sy="100000" kx="0" ky="0" algn="bl" rotWithShape="0" blurRad="101600" dist="38100" dir="2700000">
              <a:srgbClr val="000000">
                <a:alpha val="25000"/>
              </a:srgbClr>
            </a:outerShdw>
          </a:effectLst>
        </p:spPr>
      </p:sp>
      <p:pic>
        <p:nvPicPr>
          <p:cNvPr id="26" name="Image 3" descr="preencoded.png">    </p:cNvPr>
          <p:cNvPicPr>
            <a:picLocks noChangeAspect="1"/>
          </p:cNvPicPr>
          <p:nvPr/>
        </p:nvPicPr>
        <p:blipFill>
          <a:blip r:embed="rId4"/>
          <a:stretch>
            <a:fillRect/>
          </a:stretch>
        </p:blipFill>
        <p:spPr>
          <a:xfrm>
            <a:off x="5036820" y="932688"/>
            <a:ext cx="457200" cy="457200"/>
          </a:xfrm>
          <a:prstGeom prst="rect">
            <a:avLst/>
          </a:prstGeom>
        </p:spPr>
      </p:pic>
      <p:sp>
        <p:nvSpPr>
          <p:cNvPr id="27" name="Text 21"/>
          <p:cNvSpPr/>
          <p:nvPr/>
        </p:nvSpPr>
        <p:spPr>
          <a:xfrm>
            <a:off x="4681728" y="1408176"/>
            <a:ext cx="1167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Habit Check-in</a:t>
            </a:r>
            <a:endParaRPr lang="en-US" sz="1050" dirty="0"/>
          </a:p>
        </p:txBody>
      </p:sp>
      <p:sp>
        <p:nvSpPr>
          <p:cNvPr id="28" name="Text 22"/>
          <p:cNvSpPr/>
          <p:nvPr/>
        </p:nvSpPr>
        <p:spPr>
          <a:xfrm>
            <a:off x="4681728" y="1700784"/>
            <a:ext cx="1167384" cy="402336"/>
          </a:xfrm>
          <a:prstGeom prst="rect">
            <a:avLst/>
          </a:prstGeom>
          <a:noFill/>
          <a:ln/>
        </p:spPr>
        <p:txBody>
          <a:bodyPr wrap="square" lIns="0" tIns="0" rIns="0" bIns="0" rtlCol="0" anchor="ctr"/>
          <a:lstStyle/>
          <a:p>
            <a:pPr algn="ctr" indent="0" marL="0">
              <a:buNone/>
            </a:pPr>
            <a:r>
              <a:rPr lang="en-US" sz="900" dirty="0">
                <a:solidFill>
                  <a:srgbClr val="E2EAF0"/>
                </a:solidFill>
                <a:latin typeface="Calibri" pitchFamily="34" charset="0"/>
                <a:ea typeface="Calibri" pitchFamily="34" charset="-122"/>
                <a:cs typeface="Calibri" pitchFamily="34" charset="-120"/>
              </a:rPr>
              <a:t>Log sleep</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Water intake</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Exercise mins</a:t>
            </a:r>
            <a:endParaRPr lang="en-US" sz="900" dirty="0"/>
          </a:p>
        </p:txBody>
      </p:sp>
      <p:sp>
        <p:nvSpPr>
          <p:cNvPr id="29" name="Shape 23"/>
          <p:cNvSpPr/>
          <p:nvPr/>
        </p:nvSpPr>
        <p:spPr>
          <a:xfrm>
            <a:off x="6304788" y="2304288"/>
            <a:ext cx="694944" cy="694944"/>
          </a:xfrm>
          <a:prstGeom prst="ellipse">
            <a:avLst/>
          </a:prstGeom>
          <a:solidFill>
            <a:srgbClr val="F5A623"/>
          </a:solidFill>
          <a:ln w="31750">
            <a:solidFill>
              <a:srgbClr val="0D2B36"/>
            </a:solidFill>
            <a:prstDash val="solid"/>
          </a:ln>
          <a:effectLst>
            <a:outerShdw sx="100000" sy="100000" kx="0" ky="0" algn="bl" rotWithShape="0" blurRad="101600" dist="38100" dir="2700000">
              <a:srgbClr val="000000">
                <a:alpha val="35000"/>
              </a:srgbClr>
            </a:outerShdw>
          </a:effectLst>
        </p:spPr>
      </p:sp>
      <p:sp>
        <p:nvSpPr>
          <p:cNvPr id="30" name="Text 24"/>
          <p:cNvSpPr/>
          <p:nvPr/>
        </p:nvSpPr>
        <p:spPr>
          <a:xfrm>
            <a:off x="6304788" y="2304288"/>
            <a:ext cx="694944" cy="69494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Shape 25"/>
          <p:cNvSpPr/>
          <p:nvPr/>
        </p:nvSpPr>
        <p:spPr>
          <a:xfrm>
            <a:off x="6013704" y="3136392"/>
            <a:ext cx="1277112" cy="1325880"/>
          </a:xfrm>
          <a:prstGeom prst="roundRect">
            <a:avLst>
              <a:gd name="adj" fmla="val 7160"/>
            </a:avLst>
          </a:prstGeom>
          <a:solidFill>
            <a:srgbClr val="112535"/>
          </a:solidFill>
          <a:ln w="19050">
            <a:solidFill>
              <a:srgbClr val="F5A623"/>
            </a:solidFill>
            <a:prstDash val="solid"/>
          </a:ln>
          <a:effectLst>
            <a:outerShdw sx="100000" sy="100000" kx="0" ky="0" algn="bl" rotWithShape="0" blurRad="101600" dist="38100" dir="2700000">
              <a:srgbClr val="000000">
                <a:alpha val="25000"/>
              </a:srgbClr>
            </a:outerShdw>
          </a:effectLst>
        </p:spPr>
      </p:sp>
      <p:pic>
        <p:nvPicPr>
          <p:cNvPr id="32" name="Image 4" descr="preencoded.png">    </p:cNvPr>
          <p:cNvPicPr>
            <a:picLocks noChangeAspect="1"/>
          </p:cNvPicPr>
          <p:nvPr/>
        </p:nvPicPr>
        <p:blipFill>
          <a:blip r:embed="rId5"/>
          <a:stretch>
            <a:fillRect/>
          </a:stretch>
        </p:blipFill>
        <p:spPr>
          <a:xfrm>
            <a:off x="6423660" y="3227832"/>
            <a:ext cx="457200" cy="457200"/>
          </a:xfrm>
          <a:prstGeom prst="rect">
            <a:avLst/>
          </a:prstGeom>
        </p:spPr>
      </p:pic>
      <p:sp>
        <p:nvSpPr>
          <p:cNvPr id="33" name="Text 26"/>
          <p:cNvSpPr/>
          <p:nvPr/>
        </p:nvSpPr>
        <p:spPr>
          <a:xfrm>
            <a:off x="6068568" y="3703320"/>
            <a:ext cx="1167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Get Recommendations</a:t>
            </a:r>
            <a:endParaRPr lang="en-US" sz="1050" dirty="0"/>
          </a:p>
        </p:txBody>
      </p:sp>
      <p:sp>
        <p:nvSpPr>
          <p:cNvPr id="34" name="Text 27"/>
          <p:cNvSpPr/>
          <p:nvPr/>
        </p:nvSpPr>
        <p:spPr>
          <a:xfrm>
            <a:off x="6068568" y="3995928"/>
            <a:ext cx="1167384" cy="402336"/>
          </a:xfrm>
          <a:prstGeom prst="rect">
            <a:avLst/>
          </a:prstGeom>
          <a:noFill/>
          <a:ln/>
        </p:spPr>
        <p:txBody>
          <a:bodyPr wrap="square" lIns="0" tIns="0" rIns="0" bIns="0" rtlCol="0" anchor="ctr"/>
          <a:lstStyle/>
          <a:p>
            <a:pPr algn="ctr" indent="0" marL="0">
              <a:buNone/>
            </a:pPr>
            <a:r>
              <a:rPr lang="en-US" sz="900" dirty="0">
                <a:solidFill>
                  <a:srgbClr val="E2EAF0"/>
                </a:solidFill>
                <a:latin typeface="Calibri" pitchFamily="34" charset="0"/>
                <a:ea typeface="Calibri" pitchFamily="34" charset="-122"/>
                <a:cs typeface="Calibri" pitchFamily="34" charset="-120"/>
              </a:rPr>
              <a:t>AI reads inputs</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Personalised tips</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Daily wellness plan</a:t>
            </a:r>
            <a:endParaRPr lang="en-US" sz="900" dirty="0"/>
          </a:p>
        </p:txBody>
      </p:sp>
      <p:sp>
        <p:nvSpPr>
          <p:cNvPr id="35" name="Shape 28"/>
          <p:cNvSpPr/>
          <p:nvPr/>
        </p:nvSpPr>
        <p:spPr>
          <a:xfrm>
            <a:off x="7691628" y="2304288"/>
            <a:ext cx="694944" cy="694944"/>
          </a:xfrm>
          <a:prstGeom prst="ellipse">
            <a:avLst/>
          </a:prstGeom>
          <a:solidFill>
            <a:srgbClr val="F96167"/>
          </a:solidFill>
          <a:ln w="31750">
            <a:solidFill>
              <a:srgbClr val="0D2B36"/>
            </a:solidFill>
            <a:prstDash val="solid"/>
          </a:ln>
          <a:effectLst>
            <a:outerShdw sx="100000" sy="100000" kx="0" ky="0" algn="bl" rotWithShape="0" blurRad="101600" dist="38100" dir="2700000">
              <a:srgbClr val="000000">
                <a:alpha val="35000"/>
              </a:srgbClr>
            </a:outerShdw>
          </a:effectLst>
        </p:spPr>
      </p:sp>
      <p:sp>
        <p:nvSpPr>
          <p:cNvPr id="36" name="Text 29"/>
          <p:cNvSpPr/>
          <p:nvPr/>
        </p:nvSpPr>
        <p:spPr>
          <a:xfrm>
            <a:off x="7691628" y="2304288"/>
            <a:ext cx="694944" cy="69494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Shape 30"/>
          <p:cNvSpPr/>
          <p:nvPr/>
        </p:nvSpPr>
        <p:spPr>
          <a:xfrm>
            <a:off x="7400544" y="841248"/>
            <a:ext cx="1277112" cy="1325880"/>
          </a:xfrm>
          <a:prstGeom prst="roundRect">
            <a:avLst>
              <a:gd name="adj" fmla="val 7160"/>
            </a:avLst>
          </a:prstGeom>
          <a:solidFill>
            <a:srgbClr val="112535"/>
          </a:solidFill>
          <a:ln w="19050">
            <a:solidFill>
              <a:srgbClr val="F96167"/>
            </a:solidFill>
            <a:prstDash val="solid"/>
          </a:ln>
          <a:effectLst>
            <a:outerShdw sx="100000" sy="100000" kx="0" ky="0" algn="bl" rotWithShape="0" blurRad="101600" dist="38100" dir="2700000">
              <a:srgbClr val="000000">
                <a:alpha val="25000"/>
              </a:srgbClr>
            </a:outerShdw>
          </a:effectLst>
        </p:spPr>
      </p:sp>
      <p:pic>
        <p:nvPicPr>
          <p:cNvPr id="38" name="Image 5" descr="preencoded.png">    </p:cNvPr>
          <p:cNvPicPr>
            <a:picLocks noChangeAspect="1"/>
          </p:cNvPicPr>
          <p:nvPr/>
        </p:nvPicPr>
        <p:blipFill>
          <a:blip r:embed="rId6"/>
          <a:stretch>
            <a:fillRect/>
          </a:stretch>
        </p:blipFill>
        <p:spPr>
          <a:xfrm>
            <a:off x="7810500" y="932688"/>
            <a:ext cx="457200" cy="457200"/>
          </a:xfrm>
          <a:prstGeom prst="rect">
            <a:avLst/>
          </a:prstGeom>
        </p:spPr>
      </p:pic>
      <p:sp>
        <p:nvSpPr>
          <p:cNvPr id="39" name="Text 31"/>
          <p:cNvSpPr/>
          <p:nvPr/>
        </p:nvSpPr>
        <p:spPr>
          <a:xfrm>
            <a:off x="7455408" y="1408176"/>
            <a:ext cx="1167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SOS / Support</a:t>
            </a:r>
            <a:endParaRPr lang="en-US" sz="1050" dirty="0"/>
          </a:p>
        </p:txBody>
      </p:sp>
      <p:sp>
        <p:nvSpPr>
          <p:cNvPr id="40" name="Text 32"/>
          <p:cNvSpPr/>
          <p:nvPr/>
        </p:nvSpPr>
        <p:spPr>
          <a:xfrm>
            <a:off x="7455408" y="1700784"/>
            <a:ext cx="1167384" cy="402336"/>
          </a:xfrm>
          <a:prstGeom prst="rect">
            <a:avLst/>
          </a:prstGeom>
          <a:noFill/>
          <a:ln/>
        </p:spPr>
        <p:txBody>
          <a:bodyPr wrap="square" lIns="0" tIns="0" rIns="0" bIns="0" rtlCol="0" anchor="ctr"/>
          <a:lstStyle/>
          <a:p>
            <a:pPr algn="ctr" indent="0" marL="0">
              <a:buNone/>
            </a:pPr>
            <a:r>
              <a:rPr lang="en-US" sz="900" dirty="0">
                <a:solidFill>
                  <a:srgbClr val="E2EAF0"/>
                </a:solidFill>
                <a:latin typeface="Calibri" pitchFamily="34" charset="0"/>
                <a:ea typeface="Calibri" pitchFamily="34" charset="-122"/>
                <a:cs typeface="Calibri" pitchFamily="34" charset="-120"/>
              </a:rPr>
              <a:t>One tap access</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iCall helpline</a:t>
            </a:r>
            <a:endParaRPr lang="en-US" sz="900" dirty="0"/>
          </a:p>
          <a:p>
            <a:pPr algn="ctr" indent="0" marL="0">
              <a:buNone/>
            </a:pPr>
            <a:r>
              <a:rPr lang="en-US" sz="900" dirty="0">
                <a:solidFill>
                  <a:srgbClr val="E2EAF0"/>
                </a:solidFill>
                <a:latin typeface="Calibri" pitchFamily="34" charset="0"/>
                <a:ea typeface="Calibri" pitchFamily="34" charset="-122"/>
                <a:cs typeface="Calibri" pitchFamily="34" charset="-120"/>
              </a:rPr>
              <a:t>Crisis chat</a:t>
            </a:r>
            <a:endParaRPr lang="en-US" sz="900" dirty="0"/>
          </a:p>
        </p:txBody>
      </p:sp>
      <p:sp>
        <p:nvSpPr>
          <p:cNvPr id="41" name="Text 33"/>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411480" y="164592"/>
            <a:ext cx="8321040" cy="502920"/>
          </a:xfrm>
          <a:prstGeom prst="rect">
            <a:avLst/>
          </a:prstGeom>
          <a:noFill/>
          <a:ln/>
        </p:spPr>
        <p:txBody>
          <a:bodyPr wrap="square" lIns="0" tIns="0" rIns="0" bIns="0" rtlCol="0" anchor="ctr"/>
          <a:lstStyle/>
          <a:p>
            <a:pPr algn="l" indent="0" marL="0">
              <a:buNone/>
            </a:pPr>
            <a:r>
              <a:rPr lang="en-US" sz="2600" b="1" dirty="0">
                <a:solidFill>
                  <a:srgbClr val="1E3A4C"/>
                </a:solidFill>
                <a:latin typeface="Calibri" pitchFamily="34" charset="0"/>
                <a:ea typeface="Calibri" pitchFamily="34" charset="-122"/>
                <a:cs typeface="Calibri" pitchFamily="34" charset="-120"/>
              </a:rPr>
              <a:t>Tech Stack &amp; Feasibility Analysis</a:t>
            </a:r>
            <a:endParaRPr lang="en-US" sz="2600" dirty="0"/>
          </a:p>
        </p:txBody>
      </p:sp>
      <p:sp>
        <p:nvSpPr>
          <p:cNvPr id="3" name="Shape 1"/>
          <p:cNvSpPr/>
          <p:nvPr/>
        </p:nvSpPr>
        <p:spPr>
          <a:xfrm>
            <a:off x="411480" y="749808"/>
            <a:ext cx="73152" cy="73152"/>
          </a:xfrm>
          <a:prstGeom prst="oval">
            <a:avLst/>
          </a:prstGeom>
          <a:solidFill>
            <a:srgbClr val="02C39A"/>
          </a:solidFill>
          <a:ln w="12700">
            <a:solidFill>
              <a:srgbClr val="02C39A"/>
            </a:solidFill>
            <a:prstDash val="solid"/>
          </a:ln>
        </p:spPr>
      </p:sp>
      <p:sp>
        <p:nvSpPr>
          <p:cNvPr id="4" name="Shape 2"/>
          <p:cNvSpPr/>
          <p:nvPr/>
        </p:nvSpPr>
        <p:spPr>
          <a:xfrm>
            <a:off x="548640" y="749808"/>
            <a:ext cx="73152" cy="73152"/>
          </a:xfrm>
          <a:prstGeom prst="oval">
            <a:avLst/>
          </a:prstGeom>
          <a:solidFill>
            <a:srgbClr val="028090"/>
          </a:solidFill>
          <a:ln w="12700">
            <a:solidFill>
              <a:srgbClr val="028090"/>
            </a:solidFill>
            <a:prstDash val="solid"/>
          </a:ln>
        </p:spPr>
      </p:sp>
      <p:sp>
        <p:nvSpPr>
          <p:cNvPr id="5" name="Shape 3"/>
          <p:cNvSpPr/>
          <p:nvPr/>
        </p:nvSpPr>
        <p:spPr>
          <a:xfrm>
            <a:off x="685800" y="749808"/>
            <a:ext cx="73152" cy="73152"/>
          </a:xfrm>
          <a:prstGeom prst="oval">
            <a:avLst/>
          </a:prstGeom>
          <a:solidFill>
            <a:srgbClr val="E2EAF0"/>
          </a:solidFill>
          <a:ln w="12700">
            <a:solidFill>
              <a:srgbClr val="E2EAF0"/>
            </a:solidFill>
            <a:prstDash val="solid"/>
          </a:ln>
        </p:spPr>
      </p:sp>
      <p:sp>
        <p:nvSpPr>
          <p:cNvPr id="6" name="Text 4"/>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7" name="Shape 5"/>
          <p:cNvSpPr/>
          <p:nvPr/>
        </p:nvSpPr>
        <p:spPr>
          <a:xfrm>
            <a:off x="411480" y="914400"/>
            <a:ext cx="3931920" cy="3657600"/>
          </a:xfrm>
          <a:prstGeom prst="roundRect">
            <a:avLst>
              <a:gd name="adj" fmla="val 3000"/>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005840"/>
            <a:ext cx="3566160" cy="347472"/>
          </a:xfrm>
          <a:prstGeom prst="rect">
            <a:avLst/>
          </a:prstGeom>
          <a:noFill/>
          <a:ln/>
        </p:spPr>
        <p:txBody>
          <a:bodyPr wrap="square" lIns="0" tIns="0" rIns="0" bIns="0" rtlCol="0" anchor="ctr"/>
          <a:lstStyle/>
          <a:p>
            <a:pPr algn="l" indent="0" marL="0">
              <a:buNone/>
            </a:pPr>
            <a:r>
              <a:rPr lang="en-US" sz="1500" b="1" dirty="0">
                <a:solidFill>
                  <a:srgbClr val="028090"/>
                </a:solidFill>
                <a:latin typeface="Calibri" pitchFamily="34" charset="0"/>
                <a:ea typeface="Calibri" pitchFamily="34" charset="-122"/>
                <a:cs typeface="Calibri" pitchFamily="34" charset="-120"/>
              </a:rPr>
              <a:t>Tech Stack</a:t>
            </a:r>
            <a:endParaRPr lang="en-US" sz="1500" dirty="0"/>
          </a:p>
        </p:txBody>
      </p:sp>
      <p:sp>
        <p:nvSpPr>
          <p:cNvPr id="9" name="Shape 7"/>
          <p:cNvSpPr/>
          <p:nvPr/>
        </p:nvSpPr>
        <p:spPr>
          <a:xfrm>
            <a:off x="594360" y="1444752"/>
            <a:ext cx="457200" cy="457200"/>
          </a:xfrm>
          <a:prstGeom prst="roundRect">
            <a:avLst>
              <a:gd name="adj" fmla="val 12000"/>
            </a:avLst>
          </a:prstGeom>
          <a:solidFill>
            <a:srgbClr val="02C39A"/>
          </a:solidFill>
          <a:ln w="12700">
            <a:solidFill>
              <a:srgbClr val="02C39A"/>
            </a:solidFill>
            <a:prstDash val="solid"/>
          </a:ln>
        </p:spPr>
      </p:sp>
      <p:sp>
        <p:nvSpPr>
          <p:cNvPr id="10" name="Text 8"/>
          <p:cNvSpPr/>
          <p:nvPr/>
        </p:nvSpPr>
        <p:spPr>
          <a:xfrm>
            <a:off x="1170432" y="1463040"/>
            <a:ext cx="2926080" cy="256032"/>
          </a:xfrm>
          <a:prstGeom prst="rect">
            <a:avLst/>
          </a:prstGeom>
          <a:noFill/>
          <a:ln/>
        </p:spPr>
        <p:txBody>
          <a:bodyPr wrap="square" lIns="0" tIns="0" rIns="0" bIns="0" rtlCol="0" anchor="ctr"/>
          <a:lstStyle/>
          <a:p>
            <a:pPr algn="l" indent="0" marL="0">
              <a:buNone/>
            </a:pPr>
            <a:r>
              <a:rPr lang="en-US" sz="1400" b="1" dirty="0">
                <a:solidFill>
                  <a:srgbClr val="1E3A4C"/>
                </a:solidFill>
                <a:latin typeface="Calibri" pitchFamily="34" charset="0"/>
                <a:ea typeface="Calibri" pitchFamily="34" charset="-122"/>
                <a:cs typeface="Calibri" pitchFamily="34" charset="-120"/>
              </a:rPr>
              <a:t>React.js</a:t>
            </a:r>
            <a:endParaRPr lang="en-US" sz="1400" dirty="0"/>
          </a:p>
        </p:txBody>
      </p:sp>
      <p:sp>
        <p:nvSpPr>
          <p:cNvPr id="11" name="Text 9"/>
          <p:cNvSpPr/>
          <p:nvPr/>
        </p:nvSpPr>
        <p:spPr>
          <a:xfrm>
            <a:off x="1170432" y="1700784"/>
            <a:ext cx="2926080" cy="201168"/>
          </a:xfrm>
          <a:prstGeom prst="rect">
            <a:avLst/>
          </a:prstGeom>
          <a:noFill/>
          <a:ln/>
        </p:spPr>
        <p:txBody>
          <a:bodyPr wrap="square" lIns="0" tIns="0" rIns="0" bIns="0" rtlCol="0" anchor="ctr"/>
          <a:lstStyle/>
          <a:p>
            <a:pPr algn="l" indent="0" marL="0">
              <a:buNone/>
            </a:pPr>
            <a:r>
              <a:rPr lang="en-US" sz="1100" dirty="0">
                <a:solidFill>
                  <a:srgbClr val="4A6978"/>
                </a:solidFill>
                <a:latin typeface="Calibri" pitchFamily="34" charset="0"/>
                <a:ea typeface="Calibri" pitchFamily="34" charset="-122"/>
                <a:cs typeface="Calibri" pitchFamily="34" charset="-120"/>
              </a:rPr>
              <a:t>Frontend UI Framework</a:t>
            </a:r>
            <a:endParaRPr lang="en-US" sz="1100" dirty="0"/>
          </a:p>
        </p:txBody>
      </p:sp>
      <p:sp>
        <p:nvSpPr>
          <p:cNvPr id="12" name="Shape 10"/>
          <p:cNvSpPr/>
          <p:nvPr/>
        </p:nvSpPr>
        <p:spPr>
          <a:xfrm>
            <a:off x="594360" y="2194560"/>
            <a:ext cx="457200" cy="457200"/>
          </a:xfrm>
          <a:prstGeom prst="roundRect">
            <a:avLst>
              <a:gd name="adj" fmla="val 12000"/>
            </a:avLst>
          </a:prstGeom>
          <a:solidFill>
            <a:srgbClr val="028090"/>
          </a:solidFill>
          <a:ln w="12700">
            <a:solidFill>
              <a:srgbClr val="028090"/>
            </a:solidFill>
            <a:prstDash val="solid"/>
          </a:ln>
        </p:spPr>
      </p:sp>
      <p:sp>
        <p:nvSpPr>
          <p:cNvPr id="13" name="Text 11"/>
          <p:cNvSpPr/>
          <p:nvPr/>
        </p:nvSpPr>
        <p:spPr>
          <a:xfrm>
            <a:off x="1170432" y="2212848"/>
            <a:ext cx="2926080" cy="256032"/>
          </a:xfrm>
          <a:prstGeom prst="rect">
            <a:avLst/>
          </a:prstGeom>
          <a:noFill/>
          <a:ln/>
        </p:spPr>
        <p:txBody>
          <a:bodyPr wrap="square" lIns="0" tIns="0" rIns="0" bIns="0" rtlCol="0" anchor="ctr"/>
          <a:lstStyle/>
          <a:p>
            <a:pPr algn="l" indent="0" marL="0">
              <a:buNone/>
            </a:pPr>
            <a:r>
              <a:rPr lang="en-US" sz="1400" b="1" dirty="0">
                <a:solidFill>
                  <a:srgbClr val="1E3A4C"/>
                </a:solidFill>
                <a:latin typeface="Calibri" pitchFamily="34" charset="0"/>
                <a:ea typeface="Calibri" pitchFamily="34" charset="-122"/>
                <a:cs typeface="Calibri" pitchFamily="34" charset="-120"/>
              </a:rPr>
              <a:t>Tailwind CSS</a:t>
            </a:r>
            <a:endParaRPr lang="en-US" sz="1400" dirty="0"/>
          </a:p>
        </p:txBody>
      </p:sp>
      <p:sp>
        <p:nvSpPr>
          <p:cNvPr id="14" name="Text 12"/>
          <p:cNvSpPr/>
          <p:nvPr/>
        </p:nvSpPr>
        <p:spPr>
          <a:xfrm>
            <a:off x="1170432" y="2450592"/>
            <a:ext cx="2926080" cy="201168"/>
          </a:xfrm>
          <a:prstGeom prst="rect">
            <a:avLst/>
          </a:prstGeom>
          <a:noFill/>
          <a:ln/>
        </p:spPr>
        <p:txBody>
          <a:bodyPr wrap="square" lIns="0" tIns="0" rIns="0" bIns="0" rtlCol="0" anchor="ctr"/>
          <a:lstStyle/>
          <a:p>
            <a:pPr algn="l" indent="0" marL="0">
              <a:buNone/>
            </a:pPr>
            <a:r>
              <a:rPr lang="en-US" sz="1100" dirty="0">
                <a:solidFill>
                  <a:srgbClr val="4A6978"/>
                </a:solidFill>
                <a:latin typeface="Calibri" pitchFamily="34" charset="0"/>
                <a:ea typeface="Calibri" pitchFamily="34" charset="-122"/>
                <a:cs typeface="Calibri" pitchFamily="34" charset="-120"/>
              </a:rPr>
              <a:t>Responsive Styling System</a:t>
            </a:r>
            <a:endParaRPr lang="en-US" sz="1100" dirty="0"/>
          </a:p>
        </p:txBody>
      </p:sp>
      <p:sp>
        <p:nvSpPr>
          <p:cNvPr id="15" name="Shape 13"/>
          <p:cNvSpPr/>
          <p:nvPr/>
        </p:nvSpPr>
        <p:spPr>
          <a:xfrm>
            <a:off x="594360" y="2944368"/>
            <a:ext cx="457200" cy="457200"/>
          </a:xfrm>
          <a:prstGeom prst="roundRect">
            <a:avLst>
              <a:gd name="adj" fmla="val 12000"/>
            </a:avLst>
          </a:prstGeom>
          <a:solidFill>
            <a:srgbClr val="1E3A4C"/>
          </a:solidFill>
          <a:ln w="12700">
            <a:solidFill>
              <a:srgbClr val="1E3A4C"/>
            </a:solidFill>
            <a:prstDash val="solid"/>
          </a:ln>
        </p:spPr>
      </p:sp>
      <p:sp>
        <p:nvSpPr>
          <p:cNvPr id="16" name="Text 14"/>
          <p:cNvSpPr/>
          <p:nvPr/>
        </p:nvSpPr>
        <p:spPr>
          <a:xfrm>
            <a:off x="1170432" y="2962656"/>
            <a:ext cx="2926080" cy="256032"/>
          </a:xfrm>
          <a:prstGeom prst="rect">
            <a:avLst/>
          </a:prstGeom>
          <a:noFill/>
          <a:ln/>
        </p:spPr>
        <p:txBody>
          <a:bodyPr wrap="square" lIns="0" tIns="0" rIns="0" bIns="0" rtlCol="0" anchor="ctr"/>
          <a:lstStyle/>
          <a:p>
            <a:pPr algn="l" indent="0" marL="0">
              <a:buNone/>
            </a:pPr>
            <a:r>
              <a:rPr lang="en-US" sz="1400" b="1" dirty="0">
                <a:solidFill>
                  <a:srgbClr val="1E3A4C"/>
                </a:solidFill>
                <a:latin typeface="Calibri" pitchFamily="34" charset="0"/>
                <a:ea typeface="Calibri" pitchFamily="34" charset="-122"/>
                <a:cs typeface="Calibri" pitchFamily="34" charset="-120"/>
              </a:rPr>
              <a:t>FastAPI</a:t>
            </a:r>
            <a:endParaRPr lang="en-US" sz="1400" dirty="0"/>
          </a:p>
        </p:txBody>
      </p:sp>
      <p:sp>
        <p:nvSpPr>
          <p:cNvPr id="17" name="Text 15"/>
          <p:cNvSpPr/>
          <p:nvPr/>
        </p:nvSpPr>
        <p:spPr>
          <a:xfrm>
            <a:off x="1170432" y="3200400"/>
            <a:ext cx="2926080" cy="201168"/>
          </a:xfrm>
          <a:prstGeom prst="rect">
            <a:avLst/>
          </a:prstGeom>
          <a:noFill/>
          <a:ln/>
        </p:spPr>
        <p:txBody>
          <a:bodyPr wrap="square" lIns="0" tIns="0" rIns="0" bIns="0" rtlCol="0" anchor="ctr"/>
          <a:lstStyle/>
          <a:p>
            <a:pPr algn="l" indent="0" marL="0">
              <a:buNone/>
            </a:pPr>
            <a:r>
              <a:rPr lang="en-US" sz="1100" dirty="0">
                <a:solidFill>
                  <a:srgbClr val="4A6978"/>
                </a:solidFill>
                <a:latin typeface="Calibri" pitchFamily="34" charset="0"/>
                <a:ea typeface="Calibri" pitchFamily="34" charset="-122"/>
                <a:cs typeface="Calibri" pitchFamily="34" charset="-120"/>
              </a:rPr>
              <a:t>Python Backend REST API</a:t>
            </a:r>
            <a:endParaRPr lang="en-US" sz="1100" dirty="0"/>
          </a:p>
        </p:txBody>
      </p:sp>
      <p:sp>
        <p:nvSpPr>
          <p:cNvPr id="18" name="Shape 16"/>
          <p:cNvSpPr/>
          <p:nvPr/>
        </p:nvSpPr>
        <p:spPr>
          <a:xfrm>
            <a:off x="594360" y="3694176"/>
            <a:ext cx="457200" cy="457200"/>
          </a:xfrm>
          <a:prstGeom prst="roundRect">
            <a:avLst>
              <a:gd name="adj" fmla="val 12000"/>
            </a:avLst>
          </a:prstGeom>
          <a:solidFill>
            <a:srgbClr val="F5A623"/>
          </a:solidFill>
          <a:ln w="12700">
            <a:solidFill>
              <a:srgbClr val="F5A623"/>
            </a:solidFill>
            <a:prstDash val="solid"/>
          </a:ln>
        </p:spPr>
      </p:sp>
      <p:sp>
        <p:nvSpPr>
          <p:cNvPr id="19" name="Text 17"/>
          <p:cNvSpPr/>
          <p:nvPr/>
        </p:nvSpPr>
        <p:spPr>
          <a:xfrm>
            <a:off x="1170432" y="3712464"/>
            <a:ext cx="2926080" cy="256032"/>
          </a:xfrm>
          <a:prstGeom prst="rect">
            <a:avLst/>
          </a:prstGeom>
          <a:noFill/>
          <a:ln/>
        </p:spPr>
        <p:txBody>
          <a:bodyPr wrap="square" lIns="0" tIns="0" rIns="0" bIns="0" rtlCol="0" anchor="ctr"/>
          <a:lstStyle/>
          <a:p>
            <a:pPr algn="l" indent="0" marL="0">
              <a:buNone/>
            </a:pPr>
            <a:r>
              <a:rPr lang="en-US" sz="1400" b="1" dirty="0">
                <a:solidFill>
                  <a:srgbClr val="1E3A4C"/>
                </a:solidFill>
                <a:latin typeface="Calibri" pitchFamily="34" charset="0"/>
                <a:ea typeface="Calibri" pitchFamily="34" charset="-122"/>
                <a:cs typeface="Calibri" pitchFamily="34" charset="-120"/>
              </a:rPr>
              <a:t>Local Storage</a:t>
            </a:r>
            <a:endParaRPr lang="en-US" sz="1400" dirty="0"/>
          </a:p>
        </p:txBody>
      </p:sp>
      <p:sp>
        <p:nvSpPr>
          <p:cNvPr id="20" name="Text 18"/>
          <p:cNvSpPr/>
          <p:nvPr/>
        </p:nvSpPr>
        <p:spPr>
          <a:xfrm>
            <a:off x="1170432" y="3950208"/>
            <a:ext cx="2926080" cy="201168"/>
          </a:xfrm>
          <a:prstGeom prst="rect">
            <a:avLst/>
          </a:prstGeom>
          <a:noFill/>
          <a:ln/>
        </p:spPr>
        <p:txBody>
          <a:bodyPr wrap="square" lIns="0" tIns="0" rIns="0" bIns="0" rtlCol="0" anchor="ctr"/>
          <a:lstStyle/>
          <a:p>
            <a:pPr algn="l" indent="0" marL="0">
              <a:buNone/>
            </a:pPr>
            <a:r>
              <a:rPr lang="en-US" sz="1100" dirty="0">
                <a:solidFill>
                  <a:srgbClr val="4A6978"/>
                </a:solidFill>
                <a:latin typeface="Calibri" pitchFamily="34" charset="0"/>
                <a:ea typeface="Calibri" pitchFamily="34" charset="-122"/>
                <a:cs typeface="Calibri" pitchFamily="34" charset="-120"/>
              </a:rPr>
              <a:t>Client-Side Data Persistence</a:t>
            </a:r>
            <a:endParaRPr lang="en-US" sz="1100" dirty="0"/>
          </a:p>
        </p:txBody>
      </p:sp>
      <p:sp>
        <p:nvSpPr>
          <p:cNvPr id="21" name="Shape 19"/>
          <p:cNvSpPr/>
          <p:nvPr/>
        </p:nvSpPr>
        <p:spPr>
          <a:xfrm>
            <a:off x="4617720" y="914400"/>
            <a:ext cx="4114800" cy="1097280"/>
          </a:xfrm>
          <a:prstGeom prst="roundRect">
            <a:avLst>
              <a:gd name="adj" fmla="val 10000"/>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22" name="Image 0" descr="preencoded.png">    </p:cNvPr>
          <p:cNvPicPr>
            <a:picLocks noChangeAspect="1"/>
          </p:cNvPicPr>
          <p:nvPr/>
        </p:nvPicPr>
        <p:blipFill>
          <a:blip r:embed="rId1"/>
          <a:stretch>
            <a:fillRect/>
          </a:stretch>
        </p:blipFill>
        <p:spPr>
          <a:xfrm>
            <a:off x="4754880" y="1078992"/>
            <a:ext cx="457200" cy="457200"/>
          </a:xfrm>
          <a:prstGeom prst="rect">
            <a:avLst/>
          </a:prstGeom>
        </p:spPr>
      </p:pic>
      <p:sp>
        <p:nvSpPr>
          <p:cNvPr id="23" name="Text 20"/>
          <p:cNvSpPr/>
          <p:nvPr/>
        </p:nvSpPr>
        <p:spPr>
          <a:xfrm>
            <a:off x="5321808" y="1024128"/>
            <a:ext cx="3246120" cy="320040"/>
          </a:xfrm>
          <a:prstGeom prst="rect">
            <a:avLst/>
          </a:prstGeom>
          <a:noFill/>
          <a:ln/>
        </p:spPr>
        <p:txBody>
          <a:bodyPr wrap="square" lIns="0" tIns="0" rIns="0" bIns="0" rtlCol="0" anchor="ctr"/>
          <a:lstStyle/>
          <a:p>
            <a:pPr algn="l" indent="0" marL="0">
              <a:buNone/>
            </a:pPr>
            <a:r>
              <a:rPr lang="en-US" sz="1300" b="1" dirty="0">
                <a:solidFill>
                  <a:srgbClr val="1E3A4C"/>
                </a:solidFill>
                <a:latin typeface="Calibri" pitchFamily="34" charset="0"/>
                <a:ea typeface="Calibri" pitchFamily="34" charset="-122"/>
                <a:cs typeface="Calibri" pitchFamily="34" charset="-120"/>
              </a:rPr>
              <a:t>Technical Feasibility</a:t>
            </a:r>
            <a:endParaRPr lang="en-US" sz="1300" dirty="0"/>
          </a:p>
        </p:txBody>
      </p:sp>
      <p:sp>
        <p:nvSpPr>
          <p:cNvPr id="24" name="Text 21"/>
          <p:cNvSpPr/>
          <p:nvPr/>
        </p:nvSpPr>
        <p:spPr>
          <a:xfrm>
            <a:off x="5321808" y="1353312"/>
            <a:ext cx="3246120" cy="548640"/>
          </a:xfrm>
          <a:prstGeom prst="rect">
            <a:avLst/>
          </a:prstGeom>
          <a:noFill/>
          <a:ln/>
        </p:spPr>
        <p:txBody>
          <a:bodyPr wrap="square" lIns="0" tIns="0" rIns="0" bIns="0" rtlCol="0" anchor="ctr"/>
          <a:lstStyle/>
          <a:p>
            <a:pPr algn="l" indent="0" marL="0">
              <a:buNone/>
            </a:pPr>
            <a:r>
              <a:rPr lang="en-US" sz="1050" dirty="0">
                <a:solidFill>
                  <a:srgbClr val="4A6978"/>
                </a:solidFill>
                <a:latin typeface="Calibri" pitchFamily="34" charset="0"/>
                <a:ea typeface="Calibri" pitchFamily="34" charset="-122"/>
                <a:cs typeface="Calibri" pitchFamily="34" charset="-120"/>
              </a:rPr>
              <a:t>Open-source stack</a:t>
            </a:r>
            <a:endParaRPr lang="en-US" sz="1050" dirty="0"/>
          </a:p>
          <a:p>
            <a:pPr algn="l" indent="0" marL="0">
              <a:buNone/>
            </a:pPr>
            <a:r>
              <a:rPr lang="en-US" sz="1050" dirty="0">
                <a:solidFill>
                  <a:srgbClr val="4A6978"/>
                </a:solidFill>
                <a:latin typeface="Calibri" pitchFamily="34" charset="0"/>
                <a:ea typeface="Calibri" pitchFamily="34" charset="-122"/>
                <a:cs typeface="Calibri" pitchFamily="34" charset="-120"/>
              </a:rPr>
              <a:t>Zero licensing cost</a:t>
            </a:r>
            <a:endParaRPr lang="en-US" sz="1050" dirty="0"/>
          </a:p>
          <a:p>
            <a:pPr algn="l" indent="0" marL="0">
              <a:buNone/>
            </a:pPr>
            <a:r>
              <a:rPr lang="en-US" sz="1050" dirty="0">
                <a:solidFill>
                  <a:srgbClr val="4A6978"/>
                </a:solidFill>
                <a:latin typeface="Calibri" pitchFamily="34" charset="0"/>
                <a:ea typeface="Calibri" pitchFamily="34" charset="-122"/>
                <a:cs typeface="Calibri" pitchFamily="34" charset="-120"/>
              </a:rPr>
              <a:t>Browser-based, no install needed</a:t>
            </a:r>
            <a:endParaRPr lang="en-US" sz="1050" dirty="0"/>
          </a:p>
        </p:txBody>
      </p:sp>
      <p:sp>
        <p:nvSpPr>
          <p:cNvPr id="25" name="Shape 22"/>
          <p:cNvSpPr/>
          <p:nvPr/>
        </p:nvSpPr>
        <p:spPr>
          <a:xfrm>
            <a:off x="4617720" y="2176272"/>
            <a:ext cx="4114800" cy="1097280"/>
          </a:xfrm>
          <a:prstGeom prst="roundRect">
            <a:avLst>
              <a:gd name="adj" fmla="val 10000"/>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26" name="Image 1" descr="preencoded.png">    </p:cNvPr>
          <p:cNvPicPr>
            <a:picLocks noChangeAspect="1"/>
          </p:cNvPicPr>
          <p:nvPr/>
        </p:nvPicPr>
        <p:blipFill>
          <a:blip r:embed="rId2"/>
          <a:stretch>
            <a:fillRect/>
          </a:stretch>
        </p:blipFill>
        <p:spPr>
          <a:xfrm>
            <a:off x="4754880" y="2340864"/>
            <a:ext cx="457200" cy="457200"/>
          </a:xfrm>
          <a:prstGeom prst="rect">
            <a:avLst/>
          </a:prstGeom>
        </p:spPr>
      </p:pic>
      <p:sp>
        <p:nvSpPr>
          <p:cNvPr id="27" name="Text 23"/>
          <p:cNvSpPr/>
          <p:nvPr/>
        </p:nvSpPr>
        <p:spPr>
          <a:xfrm>
            <a:off x="5321808" y="2286000"/>
            <a:ext cx="3246120" cy="320040"/>
          </a:xfrm>
          <a:prstGeom prst="rect">
            <a:avLst/>
          </a:prstGeom>
          <a:noFill/>
          <a:ln/>
        </p:spPr>
        <p:txBody>
          <a:bodyPr wrap="square" lIns="0" tIns="0" rIns="0" bIns="0" rtlCol="0" anchor="ctr"/>
          <a:lstStyle/>
          <a:p>
            <a:pPr algn="l" indent="0" marL="0">
              <a:buNone/>
            </a:pPr>
            <a:r>
              <a:rPr lang="en-US" sz="1300" b="1" dirty="0">
                <a:solidFill>
                  <a:srgbClr val="1E3A4C"/>
                </a:solidFill>
                <a:latin typeface="Calibri" pitchFamily="34" charset="0"/>
                <a:ea typeface="Calibri" pitchFamily="34" charset="-122"/>
                <a:cs typeface="Calibri" pitchFamily="34" charset="-120"/>
              </a:rPr>
              <a:t>Financial Feasibility</a:t>
            </a:r>
            <a:endParaRPr lang="en-US" sz="1300" dirty="0"/>
          </a:p>
        </p:txBody>
      </p:sp>
      <p:sp>
        <p:nvSpPr>
          <p:cNvPr id="28" name="Text 24"/>
          <p:cNvSpPr/>
          <p:nvPr/>
        </p:nvSpPr>
        <p:spPr>
          <a:xfrm>
            <a:off x="5321808" y="2615184"/>
            <a:ext cx="3246120" cy="548640"/>
          </a:xfrm>
          <a:prstGeom prst="rect">
            <a:avLst/>
          </a:prstGeom>
          <a:noFill/>
          <a:ln/>
        </p:spPr>
        <p:txBody>
          <a:bodyPr wrap="square" lIns="0" tIns="0" rIns="0" bIns="0" rtlCol="0" anchor="ctr"/>
          <a:lstStyle/>
          <a:p>
            <a:pPr algn="l" indent="0" marL="0">
              <a:buNone/>
            </a:pPr>
            <a:r>
              <a:rPr lang="en-US" sz="1050" dirty="0">
                <a:solidFill>
                  <a:srgbClr val="4A6978"/>
                </a:solidFill>
                <a:latin typeface="Calibri" pitchFamily="34" charset="0"/>
                <a:ea typeface="Calibri" pitchFamily="34" charset="-122"/>
                <a:cs typeface="Calibri" pitchFamily="34" charset="-120"/>
              </a:rPr>
              <a:t>₹0 tool cost (all free/open-source)</a:t>
            </a:r>
            <a:endParaRPr lang="en-US" sz="1050" dirty="0"/>
          </a:p>
          <a:p>
            <a:pPr algn="l" indent="0" marL="0">
              <a:buNone/>
            </a:pPr>
            <a:r>
              <a:rPr lang="en-US" sz="1050" dirty="0">
                <a:solidFill>
                  <a:srgbClr val="4A6978"/>
                </a:solidFill>
                <a:latin typeface="Calibri" pitchFamily="34" charset="0"/>
                <a:ea typeface="Calibri" pitchFamily="34" charset="-122"/>
                <a:cs typeface="Calibri" pitchFamily="34" charset="-120"/>
              </a:rPr>
              <a:t>Hostable on free tiers (Vercel/Railway)</a:t>
            </a:r>
            <a:endParaRPr lang="en-US" sz="1050" dirty="0"/>
          </a:p>
          <a:p>
            <a:pPr algn="l" indent="0" marL="0">
              <a:buNone/>
            </a:pPr>
            <a:r>
              <a:rPr lang="en-US" sz="1050" dirty="0">
                <a:solidFill>
                  <a:srgbClr val="4A6978"/>
                </a:solidFill>
                <a:latin typeface="Calibri" pitchFamily="34" charset="0"/>
                <a:ea typeface="Calibri" pitchFamily="34" charset="-122"/>
                <a:cs typeface="Calibri" pitchFamily="34" charset="-120"/>
              </a:rPr>
              <a:t>No server hardware required</a:t>
            </a:r>
            <a:endParaRPr lang="en-US" sz="1050" dirty="0"/>
          </a:p>
        </p:txBody>
      </p:sp>
      <p:sp>
        <p:nvSpPr>
          <p:cNvPr id="29" name="Shape 25"/>
          <p:cNvSpPr/>
          <p:nvPr/>
        </p:nvSpPr>
        <p:spPr>
          <a:xfrm>
            <a:off x="4617720" y="3438144"/>
            <a:ext cx="4114800" cy="1097280"/>
          </a:xfrm>
          <a:prstGeom prst="roundRect">
            <a:avLst>
              <a:gd name="adj" fmla="val 10000"/>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pic>
        <p:nvPicPr>
          <p:cNvPr id="30" name="Image 2" descr="preencoded.png">    </p:cNvPr>
          <p:cNvPicPr>
            <a:picLocks noChangeAspect="1"/>
          </p:cNvPicPr>
          <p:nvPr/>
        </p:nvPicPr>
        <p:blipFill>
          <a:blip r:embed="rId3"/>
          <a:stretch>
            <a:fillRect/>
          </a:stretch>
        </p:blipFill>
        <p:spPr>
          <a:xfrm>
            <a:off x="4754880" y="3602736"/>
            <a:ext cx="457200" cy="457200"/>
          </a:xfrm>
          <a:prstGeom prst="rect">
            <a:avLst/>
          </a:prstGeom>
        </p:spPr>
      </p:pic>
      <p:sp>
        <p:nvSpPr>
          <p:cNvPr id="31" name="Text 26"/>
          <p:cNvSpPr/>
          <p:nvPr/>
        </p:nvSpPr>
        <p:spPr>
          <a:xfrm>
            <a:off x="5321808" y="3547872"/>
            <a:ext cx="3246120" cy="320040"/>
          </a:xfrm>
          <a:prstGeom prst="rect">
            <a:avLst/>
          </a:prstGeom>
          <a:noFill/>
          <a:ln/>
        </p:spPr>
        <p:txBody>
          <a:bodyPr wrap="square" lIns="0" tIns="0" rIns="0" bIns="0" rtlCol="0" anchor="ctr"/>
          <a:lstStyle/>
          <a:p>
            <a:pPr algn="l" indent="0" marL="0">
              <a:buNone/>
            </a:pPr>
            <a:r>
              <a:rPr lang="en-US" sz="1300" b="1" dirty="0">
                <a:solidFill>
                  <a:srgbClr val="1E3A4C"/>
                </a:solidFill>
                <a:latin typeface="Calibri" pitchFamily="34" charset="0"/>
                <a:ea typeface="Calibri" pitchFamily="34" charset="-122"/>
                <a:cs typeface="Calibri" pitchFamily="34" charset="-120"/>
              </a:rPr>
              <a:t>Operational Feasibility</a:t>
            </a:r>
            <a:endParaRPr lang="en-US" sz="1300" dirty="0"/>
          </a:p>
        </p:txBody>
      </p:sp>
      <p:sp>
        <p:nvSpPr>
          <p:cNvPr id="32" name="Text 27"/>
          <p:cNvSpPr/>
          <p:nvPr/>
        </p:nvSpPr>
        <p:spPr>
          <a:xfrm>
            <a:off x="5321808" y="3877056"/>
            <a:ext cx="3246120" cy="548640"/>
          </a:xfrm>
          <a:prstGeom prst="rect">
            <a:avLst/>
          </a:prstGeom>
          <a:noFill/>
          <a:ln/>
        </p:spPr>
        <p:txBody>
          <a:bodyPr wrap="square" lIns="0" tIns="0" rIns="0" bIns="0" rtlCol="0" anchor="ctr"/>
          <a:lstStyle/>
          <a:p>
            <a:pPr algn="l" indent="0" marL="0">
              <a:buNone/>
            </a:pPr>
            <a:r>
              <a:rPr lang="en-US" sz="1050" dirty="0">
                <a:solidFill>
                  <a:srgbClr val="4A6978"/>
                </a:solidFill>
                <a:latin typeface="Calibri" pitchFamily="34" charset="0"/>
                <a:ea typeface="Calibri" pitchFamily="34" charset="-122"/>
                <a:cs typeface="Calibri" pitchFamily="34" charset="-120"/>
              </a:rPr>
              <a:t>Single developer can maintain</a:t>
            </a:r>
            <a:endParaRPr lang="en-US" sz="1050" dirty="0"/>
          </a:p>
          <a:p>
            <a:pPr algn="l" indent="0" marL="0">
              <a:buNone/>
            </a:pPr>
            <a:r>
              <a:rPr lang="en-US" sz="1050" dirty="0">
                <a:solidFill>
                  <a:srgbClr val="4A6978"/>
                </a:solidFill>
                <a:latin typeface="Calibri" pitchFamily="34" charset="0"/>
                <a:ea typeface="Calibri" pitchFamily="34" charset="-122"/>
                <a:cs typeface="Calibri" pitchFamily="34" charset="-120"/>
              </a:rPr>
              <a:t>CSE student can build in 1 semester</a:t>
            </a:r>
            <a:endParaRPr lang="en-US" sz="1050" dirty="0"/>
          </a:p>
          <a:p>
            <a:pPr algn="l" indent="0" marL="0">
              <a:buNone/>
            </a:pPr>
            <a:r>
              <a:rPr lang="en-US" sz="1050" dirty="0">
                <a:solidFill>
                  <a:srgbClr val="4A6978"/>
                </a:solidFill>
                <a:latin typeface="Calibri" pitchFamily="34" charset="0"/>
                <a:ea typeface="Calibri" pitchFamily="34" charset="-122"/>
                <a:cs typeface="Calibri" pitchFamily="34" charset="-120"/>
              </a:rPr>
              <a:t>Scalable to cloud with minimal change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B36"/>
        </a:solidFill>
      </p:bgPr>
    </p:bg>
    <p:spTree>
      <p:nvGrpSpPr>
        <p:cNvPr id="1" name=""/>
        <p:cNvGrpSpPr/>
        <p:nvPr/>
      </p:nvGrpSpPr>
      <p:grpSpPr>
        <a:xfrm>
          <a:off x="0" y="0"/>
          <a:ext cx="0" cy="0"/>
          <a:chOff x="0" y="0"/>
          <a:chExt cx="0" cy="0"/>
        </a:xfrm>
      </p:grpSpPr>
      <p:sp>
        <p:nvSpPr>
          <p:cNvPr id="2" name="Text 0"/>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3" name="Text 1"/>
          <p:cNvSpPr/>
          <p:nvPr/>
        </p:nvSpPr>
        <p:spPr>
          <a:xfrm>
            <a:off x="411480" y="182880"/>
            <a:ext cx="8321040" cy="502920"/>
          </a:xfrm>
          <a:prstGeom prst="rect">
            <a:avLst/>
          </a:prstGeom>
          <a:noFill/>
          <a:ln/>
        </p:spPr>
        <p:txBody>
          <a:bodyPr wrap="square" lIns="0" tIns="0" rIns="0" bIns="0" rtlCol="0" anchor="ctr"/>
          <a:lstStyle/>
          <a:p>
            <a:pPr algn="l" indent="0" marL="0">
              <a:buNone/>
            </a:pPr>
            <a:r>
              <a:rPr lang="en-US" sz="2600" b="1" dirty="0">
                <a:solidFill>
                  <a:srgbClr val="02C39A"/>
                </a:solidFill>
                <a:latin typeface="Calibri" pitchFamily="34" charset="0"/>
                <a:ea typeface="Calibri" pitchFamily="34" charset="-122"/>
                <a:cs typeface="Calibri" pitchFamily="34" charset="-120"/>
              </a:rPr>
              <a:t>Innovation Factor</a:t>
            </a:r>
            <a:endParaRPr lang="en-US" sz="2600" dirty="0"/>
          </a:p>
        </p:txBody>
      </p:sp>
      <p:sp>
        <p:nvSpPr>
          <p:cNvPr id="4" name="Text 2"/>
          <p:cNvSpPr/>
          <p:nvPr/>
        </p:nvSpPr>
        <p:spPr>
          <a:xfrm>
            <a:off x="411480" y="713232"/>
            <a:ext cx="8321040" cy="274320"/>
          </a:xfrm>
          <a:prstGeom prst="rect">
            <a:avLst/>
          </a:prstGeom>
          <a:noFill/>
          <a:ln/>
        </p:spPr>
        <p:txBody>
          <a:bodyPr wrap="square" lIns="0" tIns="0" rIns="0" bIns="0" rtlCol="0" anchor="ctr"/>
          <a:lstStyle/>
          <a:p>
            <a:pPr algn="l" indent="0" marL="0">
              <a:buNone/>
            </a:pPr>
            <a:r>
              <a:rPr lang="en-US" sz="1300" dirty="0">
                <a:solidFill>
                  <a:srgbClr val="E2EAF0"/>
                </a:solidFill>
                <a:latin typeface="Calibri" pitchFamily="34" charset="0"/>
                <a:ea typeface="Calibri" pitchFamily="34" charset="-122"/>
                <a:cs typeface="Calibri" pitchFamily="34" charset="-120"/>
              </a:rPr>
              <a:t>What makes MindEase different from existing solutions?</a:t>
            </a:r>
            <a:endParaRPr lang="en-US" sz="1300" dirty="0"/>
          </a:p>
        </p:txBody>
      </p:sp>
      <p:sp>
        <p:nvSpPr>
          <p:cNvPr id="5" name="Shape 3"/>
          <p:cNvSpPr/>
          <p:nvPr/>
        </p:nvSpPr>
        <p:spPr>
          <a:xfrm>
            <a:off x="411480" y="1143000"/>
            <a:ext cx="2651760" cy="1463040"/>
          </a:xfrm>
          <a:prstGeom prst="roundRect">
            <a:avLst>
              <a:gd name="adj" fmla="val 7500"/>
            </a:avLst>
          </a:prstGeom>
          <a:solidFill>
            <a:srgbClr val="1A3C4D"/>
          </a:solidFill>
          <a:ln w="12700">
            <a:solidFill>
              <a:srgbClr val="028090"/>
            </a:solidFill>
            <a:prstDash val="solid"/>
          </a:ln>
          <a:effectLst>
            <a:outerShdw sx="100000" sy="100000" kx="0" ky="0" algn="bl" rotWithShape="0" blurRad="101600" dist="38100" dir="27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594360" y="1280160"/>
            <a:ext cx="502920" cy="502920"/>
          </a:xfrm>
          <a:prstGeom prst="rect">
            <a:avLst/>
          </a:prstGeom>
        </p:spPr>
      </p:pic>
      <p:sp>
        <p:nvSpPr>
          <p:cNvPr id="7" name="Text 4"/>
          <p:cNvSpPr/>
          <p:nvPr/>
        </p:nvSpPr>
        <p:spPr>
          <a:xfrm>
            <a:off x="1188720" y="1280160"/>
            <a:ext cx="173736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Student-Centric Design</a:t>
            </a:r>
            <a:endParaRPr lang="en-US" sz="1200" dirty="0"/>
          </a:p>
        </p:txBody>
      </p:sp>
      <p:sp>
        <p:nvSpPr>
          <p:cNvPr id="8" name="Text 5"/>
          <p:cNvSpPr/>
          <p:nvPr/>
        </p:nvSpPr>
        <p:spPr>
          <a:xfrm>
            <a:off x="594360" y="1892808"/>
            <a:ext cx="2377440" cy="640080"/>
          </a:xfrm>
          <a:prstGeom prst="rect">
            <a:avLst/>
          </a:prstGeom>
          <a:noFill/>
          <a:ln/>
        </p:spPr>
        <p:txBody>
          <a:bodyPr wrap="square" lIns="0" tIns="0" rIns="0" bIns="0" rtlCol="0" anchor="ctr"/>
          <a:lstStyle/>
          <a:p>
            <a:pPr algn="l" indent="0" marL="0">
              <a:buNone/>
            </a:pPr>
            <a:r>
              <a:rPr lang="en-US" sz="1050" dirty="0">
                <a:solidFill>
                  <a:srgbClr val="E2EAF0"/>
                </a:solidFill>
                <a:latin typeface="Calibri" pitchFamily="34" charset="0"/>
                <a:ea typeface="Calibri" pitchFamily="34" charset="-122"/>
                <a:cs typeface="Calibri" pitchFamily="34" charset="-120"/>
              </a:rPr>
              <a:t>Purpose-built UX for college students — not repurposed adult therapy apps</a:t>
            </a:r>
            <a:endParaRPr lang="en-US" sz="1050" dirty="0"/>
          </a:p>
        </p:txBody>
      </p:sp>
      <p:sp>
        <p:nvSpPr>
          <p:cNvPr id="9" name="Shape 6"/>
          <p:cNvSpPr/>
          <p:nvPr/>
        </p:nvSpPr>
        <p:spPr>
          <a:xfrm>
            <a:off x="3264408" y="1143000"/>
            <a:ext cx="2651760" cy="1463040"/>
          </a:xfrm>
          <a:prstGeom prst="roundRect">
            <a:avLst>
              <a:gd name="adj" fmla="val 7500"/>
            </a:avLst>
          </a:prstGeom>
          <a:solidFill>
            <a:srgbClr val="1A3C4D"/>
          </a:solidFill>
          <a:ln w="12700">
            <a:solidFill>
              <a:srgbClr val="028090"/>
            </a:solidFill>
            <a:prstDash val="solid"/>
          </a:ln>
          <a:effectLst>
            <a:outerShdw sx="100000" sy="100000" kx="0" ky="0" algn="bl" rotWithShape="0" blurRad="101600" dist="38100" dir="27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3447288" y="1280160"/>
            <a:ext cx="502920" cy="502920"/>
          </a:xfrm>
          <a:prstGeom prst="rect">
            <a:avLst/>
          </a:prstGeom>
        </p:spPr>
      </p:pic>
      <p:sp>
        <p:nvSpPr>
          <p:cNvPr id="11" name="Text 7"/>
          <p:cNvSpPr/>
          <p:nvPr/>
        </p:nvSpPr>
        <p:spPr>
          <a:xfrm>
            <a:off x="4041648" y="1280160"/>
            <a:ext cx="173736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All-in-One Wellness Suite</a:t>
            </a:r>
            <a:endParaRPr lang="en-US" sz="1200" dirty="0"/>
          </a:p>
        </p:txBody>
      </p:sp>
      <p:sp>
        <p:nvSpPr>
          <p:cNvPr id="12" name="Text 8"/>
          <p:cNvSpPr/>
          <p:nvPr/>
        </p:nvSpPr>
        <p:spPr>
          <a:xfrm>
            <a:off x="3447288" y="1892808"/>
            <a:ext cx="2377440" cy="640080"/>
          </a:xfrm>
          <a:prstGeom prst="rect">
            <a:avLst/>
          </a:prstGeom>
          <a:noFill/>
          <a:ln/>
        </p:spPr>
        <p:txBody>
          <a:bodyPr wrap="square" lIns="0" tIns="0" rIns="0" bIns="0" rtlCol="0" anchor="ctr"/>
          <a:lstStyle/>
          <a:p>
            <a:pPr algn="l" indent="0" marL="0">
              <a:buNone/>
            </a:pPr>
            <a:r>
              <a:rPr lang="en-US" sz="1050" dirty="0">
                <a:solidFill>
                  <a:srgbClr val="E2EAF0"/>
                </a:solidFill>
                <a:latin typeface="Calibri" pitchFamily="34" charset="0"/>
                <a:ea typeface="Calibri" pitchFamily="34" charset="-122"/>
                <a:cs typeface="Calibri" pitchFamily="34" charset="-120"/>
              </a:rPr>
              <a:t>Mood + Stress + Habits + Recommendations in a single unified platform</a:t>
            </a:r>
            <a:endParaRPr lang="en-US" sz="1050" dirty="0"/>
          </a:p>
        </p:txBody>
      </p:sp>
      <p:sp>
        <p:nvSpPr>
          <p:cNvPr id="13" name="Shape 9"/>
          <p:cNvSpPr/>
          <p:nvPr/>
        </p:nvSpPr>
        <p:spPr>
          <a:xfrm>
            <a:off x="6117336" y="1143000"/>
            <a:ext cx="2651760" cy="1463040"/>
          </a:xfrm>
          <a:prstGeom prst="roundRect">
            <a:avLst>
              <a:gd name="adj" fmla="val 7500"/>
            </a:avLst>
          </a:prstGeom>
          <a:solidFill>
            <a:srgbClr val="1A3C4D"/>
          </a:solidFill>
          <a:ln w="12700">
            <a:solidFill>
              <a:srgbClr val="028090"/>
            </a:solidFill>
            <a:prstDash val="solid"/>
          </a:ln>
          <a:effectLst>
            <a:outerShdw sx="100000" sy="100000" kx="0" ky="0" algn="bl" rotWithShape="0" blurRad="101600" dist="38100" dir="27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6300216" y="1280160"/>
            <a:ext cx="502920" cy="502920"/>
          </a:xfrm>
          <a:prstGeom prst="rect">
            <a:avLst/>
          </a:prstGeom>
        </p:spPr>
      </p:pic>
      <p:sp>
        <p:nvSpPr>
          <p:cNvPr id="15" name="Text 10"/>
          <p:cNvSpPr/>
          <p:nvPr/>
        </p:nvSpPr>
        <p:spPr>
          <a:xfrm>
            <a:off x="6894576" y="1280160"/>
            <a:ext cx="173736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Zero-Cost Accessibility</a:t>
            </a:r>
            <a:endParaRPr lang="en-US" sz="1200" dirty="0"/>
          </a:p>
        </p:txBody>
      </p:sp>
      <p:sp>
        <p:nvSpPr>
          <p:cNvPr id="16" name="Text 11"/>
          <p:cNvSpPr/>
          <p:nvPr/>
        </p:nvSpPr>
        <p:spPr>
          <a:xfrm>
            <a:off x="6300216" y="1892808"/>
            <a:ext cx="2377440" cy="640080"/>
          </a:xfrm>
          <a:prstGeom prst="rect">
            <a:avLst/>
          </a:prstGeom>
          <a:noFill/>
          <a:ln/>
        </p:spPr>
        <p:txBody>
          <a:bodyPr wrap="square" lIns="0" tIns="0" rIns="0" bIns="0" rtlCol="0" anchor="ctr"/>
          <a:lstStyle/>
          <a:p>
            <a:pPr algn="l" indent="0" marL="0">
              <a:buNone/>
            </a:pPr>
            <a:r>
              <a:rPr lang="en-US" sz="1050" dirty="0">
                <a:solidFill>
                  <a:srgbClr val="E2EAF0"/>
                </a:solidFill>
                <a:latin typeface="Calibri" pitchFamily="34" charset="0"/>
                <a:ea typeface="Calibri" pitchFamily="34" charset="-122"/>
                <a:cs typeface="Calibri" pitchFamily="34" charset="-120"/>
              </a:rPr>
              <a:t>100% free — no subscription, no paywall; works on any device with a browser</a:t>
            </a:r>
            <a:endParaRPr lang="en-US" sz="1050" dirty="0"/>
          </a:p>
        </p:txBody>
      </p:sp>
      <p:sp>
        <p:nvSpPr>
          <p:cNvPr id="17" name="Shape 12"/>
          <p:cNvSpPr/>
          <p:nvPr/>
        </p:nvSpPr>
        <p:spPr>
          <a:xfrm>
            <a:off x="411480" y="2788920"/>
            <a:ext cx="2651760" cy="1463040"/>
          </a:xfrm>
          <a:prstGeom prst="roundRect">
            <a:avLst>
              <a:gd name="adj" fmla="val 7500"/>
            </a:avLst>
          </a:prstGeom>
          <a:solidFill>
            <a:srgbClr val="1A3C4D"/>
          </a:solidFill>
          <a:ln w="12700">
            <a:solidFill>
              <a:srgbClr val="028090"/>
            </a:solidFill>
            <a:prstDash val="solid"/>
          </a:ln>
          <a:effectLst>
            <a:outerShdw sx="100000" sy="100000" kx="0" ky="0" algn="bl" rotWithShape="0" blurRad="101600" dist="38100" dir="2700000">
              <a:srgbClr val="000000">
                <a:alpha val="12000"/>
              </a:srgbClr>
            </a:outerShdw>
          </a:effectLst>
        </p:spPr>
      </p:sp>
      <p:pic>
        <p:nvPicPr>
          <p:cNvPr id="18" name="Image 3" descr="preencoded.png">    </p:cNvPr>
          <p:cNvPicPr>
            <a:picLocks noChangeAspect="1"/>
          </p:cNvPicPr>
          <p:nvPr/>
        </p:nvPicPr>
        <p:blipFill>
          <a:blip r:embed="rId4"/>
          <a:stretch>
            <a:fillRect/>
          </a:stretch>
        </p:blipFill>
        <p:spPr>
          <a:xfrm>
            <a:off x="594360" y="2926080"/>
            <a:ext cx="502920" cy="502920"/>
          </a:xfrm>
          <a:prstGeom prst="rect">
            <a:avLst/>
          </a:prstGeom>
        </p:spPr>
      </p:pic>
      <p:sp>
        <p:nvSpPr>
          <p:cNvPr id="19" name="Text 13"/>
          <p:cNvSpPr/>
          <p:nvPr/>
        </p:nvSpPr>
        <p:spPr>
          <a:xfrm>
            <a:off x="1188720" y="2926080"/>
            <a:ext cx="173736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SDG-Aligned Impact</a:t>
            </a:r>
            <a:endParaRPr lang="en-US" sz="1200" dirty="0"/>
          </a:p>
        </p:txBody>
      </p:sp>
      <p:sp>
        <p:nvSpPr>
          <p:cNvPr id="20" name="Text 14"/>
          <p:cNvSpPr/>
          <p:nvPr/>
        </p:nvSpPr>
        <p:spPr>
          <a:xfrm>
            <a:off x="594360" y="3538728"/>
            <a:ext cx="2377440" cy="640080"/>
          </a:xfrm>
          <a:prstGeom prst="rect">
            <a:avLst/>
          </a:prstGeom>
          <a:noFill/>
          <a:ln/>
        </p:spPr>
        <p:txBody>
          <a:bodyPr wrap="square" lIns="0" tIns="0" rIns="0" bIns="0" rtlCol="0" anchor="ctr"/>
          <a:lstStyle/>
          <a:p>
            <a:pPr algn="l" indent="0" marL="0">
              <a:buNone/>
            </a:pPr>
            <a:r>
              <a:rPr lang="en-US" sz="1050" dirty="0">
                <a:solidFill>
                  <a:srgbClr val="E2EAF0"/>
                </a:solidFill>
                <a:latin typeface="Calibri" pitchFamily="34" charset="0"/>
                <a:ea typeface="Calibri" pitchFamily="34" charset="-122"/>
                <a:cs typeface="Calibri" pitchFamily="34" charset="-120"/>
              </a:rPr>
              <a:t>Directly addresses UN SDG 3 Target 3.4 — promoting mental health for all</a:t>
            </a:r>
            <a:endParaRPr lang="en-US" sz="1050" dirty="0"/>
          </a:p>
        </p:txBody>
      </p:sp>
      <p:sp>
        <p:nvSpPr>
          <p:cNvPr id="21" name="Shape 15"/>
          <p:cNvSpPr/>
          <p:nvPr/>
        </p:nvSpPr>
        <p:spPr>
          <a:xfrm>
            <a:off x="3264408" y="2788920"/>
            <a:ext cx="2651760" cy="1463040"/>
          </a:xfrm>
          <a:prstGeom prst="roundRect">
            <a:avLst>
              <a:gd name="adj" fmla="val 7500"/>
            </a:avLst>
          </a:prstGeom>
          <a:solidFill>
            <a:srgbClr val="1A3C4D"/>
          </a:solidFill>
          <a:ln w="12700">
            <a:solidFill>
              <a:srgbClr val="028090"/>
            </a:solidFill>
            <a:prstDash val="solid"/>
          </a:ln>
          <a:effectLst>
            <a:outerShdw sx="100000" sy="100000" kx="0" ky="0" algn="bl" rotWithShape="0" blurRad="101600" dist="38100" dir="2700000">
              <a:srgbClr val="000000">
                <a:alpha val="12000"/>
              </a:srgbClr>
            </a:outerShdw>
          </a:effectLst>
        </p:spPr>
      </p:sp>
      <p:pic>
        <p:nvPicPr>
          <p:cNvPr id="22" name="Image 4" descr="preencoded.png">    </p:cNvPr>
          <p:cNvPicPr>
            <a:picLocks noChangeAspect="1"/>
          </p:cNvPicPr>
          <p:nvPr/>
        </p:nvPicPr>
        <p:blipFill>
          <a:blip r:embed="rId5"/>
          <a:stretch>
            <a:fillRect/>
          </a:stretch>
        </p:blipFill>
        <p:spPr>
          <a:xfrm>
            <a:off x="3447288" y="2926080"/>
            <a:ext cx="502920" cy="502920"/>
          </a:xfrm>
          <a:prstGeom prst="rect">
            <a:avLst/>
          </a:prstGeom>
        </p:spPr>
      </p:pic>
      <p:sp>
        <p:nvSpPr>
          <p:cNvPr id="23" name="Text 16"/>
          <p:cNvSpPr/>
          <p:nvPr/>
        </p:nvSpPr>
        <p:spPr>
          <a:xfrm>
            <a:off x="4041648" y="2926080"/>
            <a:ext cx="173736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Privacy-First Architecture</a:t>
            </a:r>
            <a:endParaRPr lang="en-US" sz="1200" dirty="0"/>
          </a:p>
        </p:txBody>
      </p:sp>
      <p:sp>
        <p:nvSpPr>
          <p:cNvPr id="24" name="Text 17"/>
          <p:cNvSpPr/>
          <p:nvPr/>
        </p:nvSpPr>
        <p:spPr>
          <a:xfrm>
            <a:off x="3447288" y="3538728"/>
            <a:ext cx="2377440" cy="640080"/>
          </a:xfrm>
          <a:prstGeom prst="rect">
            <a:avLst/>
          </a:prstGeom>
          <a:noFill/>
          <a:ln/>
        </p:spPr>
        <p:txBody>
          <a:bodyPr wrap="square" lIns="0" tIns="0" rIns="0" bIns="0" rtlCol="0" anchor="ctr"/>
          <a:lstStyle/>
          <a:p>
            <a:pPr algn="l" indent="0" marL="0">
              <a:buNone/>
            </a:pPr>
            <a:r>
              <a:rPr lang="en-US" sz="1050" dirty="0">
                <a:solidFill>
                  <a:srgbClr val="E2EAF0"/>
                </a:solidFill>
                <a:latin typeface="Calibri" pitchFamily="34" charset="0"/>
                <a:ea typeface="Calibri" pitchFamily="34" charset="-122"/>
                <a:cs typeface="Calibri" pitchFamily="34" charset="-120"/>
              </a:rPr>
              <a:t>All data stays in browser Local Storage — no cloud upload, full user privacy</a:t>
            </a:r>
            <a:endParaRPr lang="en-US" sz="1050" dirty="0"/>
          </a:p>
        </p:txBody>
      </p:sp>
      <p:sp>
        <p:nvSpPr>
          <p:cNvPr id="25" name="Shape 18"/>
          <p:cNvSpPr/>
          <p:nvPr/>
        </p:nvSpPr>
        <p:spPr>
          <a:xfrm>
            <a:off x="6117336" y="2788920"/>
            <a:ext cx="2651760" cy="1463040"/>
          </a:xfrm>
          <a:prstGeom prst="roundRect">
            <a:avLst>
              <a:gd name="adj" fmla="val 7500"/>
            </a:avLst>
          </a:prstGeom>
          <a:solidFill>
            <a:srgbClr val="1A3C4D"/>
          </a:solidFill>
          <a:ln w="12700">
            <a:solidFill>
              <a:srgbClr val="028090"/>
            </a:solidFill>
            <a:prstDash val="solid"/>
          </a:ln>
          <a:effectLst>
            <a:outerShdw sx="100000" sy="100000" kx="0" ky="0" algn="bl" rotWithShape="0" blurRad="101600" dist="38100" dir="2700000">
              <a:srgbClr val="000000">
                <a:alpha val="12000"/>
              </a:srgbClr>
            </a:outerShdw>
          </a:effectLst>
        </p:spPr>
      </p:sp>
      <p:pic>
        <p:nvPicPr>
          <p:cNvPr id="26" name="Image 5" descr="preencoded.png">    </p:cNvPr>
          <p:cNvPicPr>
            <a:picLocks noChangeAspect="1"/>
          </p:cNvPicPr>
          <p:nvPr/>
        </p:nvPicPr>
        <p:blipFill>
          <a:blip r:embed="rId6"/>
          <a:stretch>
            <a:fillRect/>
          </a:stretch>
        </p:blipFill>
        <p:spPr>
          <a:xfrm>
            <a:off x="6300216" y="2926080"/>
            <a:ext cx="502920" cy="502920"/>
          </a:xfrm>
          <a:prstGeom prst="rect">
            <a:avLst/>
          </a:prstGeom>
        </p:spPr>
      </p:pic>
      <p:sp>
        <p:nvSpPr>
          <p:cNvPr id="27" name="Text 19"/>
          <p:cNvSpPr/>
          <p:nvPr/>
        </p:nvSpPr>
        <p:spPr>
          <a:xfrm>
            <a:off x="6894576" y="2926080"/>
            <a:ext cx="173736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AI-Driven Recommendations</a:t>
            </a:r>
            <a:endParaRPr lang="en-US" sz="1200" dirty="0"/>
          </a:p>
        </p:txBody>
      </p:sp>
      <p:sp>
        <p:nvSpPr>
          <p:cNvPr id="28" name="Text 20"/>
          <p:cNvSpPr/>
          <p:nvPr/>
        </p:nvSpPr>
        <p:spPr>
          <a:xfrm>
            <a:off x="6300216" y="3538728"/>
            <a:ext cx="2377440" cy="640080"/>
          </a:xfrm>
          <a:prstGeom prst="rect">
            <a:avLst/>
          </a:prstGeom>
          <a:noFill/>
          <a:ln/>
        </p:spPr>
        <p:txBody>
          <a:bodyPr wrap="square" lIns="0" tIns="0" rIns="0" bIns="0" rtlCol="0" anchor="ctr"/>
          <a:lstStyle/>
          <a:p>
            <a:pPr algn="l" indent="0" marL="0">
              <a:buNone/>
            </a:pPr>
            <a:r>
              <a:rPr lang="en-US" sz="1050" dirty="0">
                <a:solidFill>
                  <a:srgbClr val="E2EAF0"/>
                </a:solidFill>
                <a:latin typeface="Calibri" pitchFamily="34" charset="0"/>
                <a:ea typeface="Calibri" pitchFamily="34" charset="-122"/>
                <a:cs typeface="Calibri" pitchFamily="34" charset="-120"/>
              </a:rPr>
              <a:t>Context-aware engine combines mood, stress &amp; habit data for personalized tips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p:bgPr>
    </p:bg>
    <p:spTree>
      <p:nvGrpSpPr>
        <p:cNvPr id="1" name=""/>
        <p:cNvGrpSpPr/>
        <p:nvPr/>
      </p:nvGrpSpPr>
      <p:grpSpPr>
        <a:xfrm>
          <a:off x="0" y="0"/>
          <a:ext cx="0" cy="0"/>
          <a:chOff x="0" y="0"/>
          <a:chExt cx="0" cy="0"/>
        </a:xfrm>
      </p:grpSpPr>
      <p:sp>
        <p:nvSpPr>
          <p:cNvPr id="2" name="Text 0"/>
          <p:cNvSpPr/>
          <p:nvPr/>
        </p:nvSpPr>
        <p:spPr>
          <a:xfrm>
            <a:off x="411480" y="164592"/>
            <a:ext cx="8321040" cy="502920"/>
          </a:xfrm>
          <a:prstGeom prst="rect">
            <a:avLst/>
          </a:prstGeom>
          <a:noFill/>
          <a:ln/>
        </p:spPr>
        <p:txBody>
          <a:bodyPr wrap="square" lIns="0" tIns="0" rIns="0" bIns="0" rtlCol="0" anchor="ctr"/>
          <a:lstStyle/>
          <a:p>
            <a:pPr algn="l" indent="0" marL="0">
              <a:buNone/>
            </a:pPr>
            <a:r>
              <a:rPr lang="en-US" sz="2600" b="1" dirty="0">
                <a:solidFill>
                  <a:srgbClr val="1E3A4C"/>
                </a:solidFill>
                <a:latin typeface="Calibri" pitchFamily="34" charset="0"/>
                <a:ea typeface="Calibri" pitchFamily="34" charset="-122"/>
                <a:cs typeface="Calibri" pitchFamily="34" charset="-120"/>
              </a:rPr>
              <a:t>Impact &amp; Future Scope</a:t>
            </a:r>
            <a:endParaRPr lang="en-US" sz="2600" dirty="0"/>
          </a:p>
        </p:txBody>
      </p:sp>
      <p:sp>
        <p:nvSpPr>
          <p:cNvPr id="3" name="Shape 1"/>
          <p:cNvSpPr/>
          <p:nvPr/>
        </p:nvSpPr>
        <p:spPr>
          <a:xfrm>
            <a:off x="411480" y="749808"/>
            <a:ext cx="73152" cy="73152"/>
          </a:xfrm>
          <a:prstGeom prst="oval">
            <a:avLst/>
          </a:prstGeom>
          <a:solidFill>
            <a:srgbClr val="02C39A"/>
          </a:solidFill>
          <a:ln w="12700">
            <a:solidFill>
              <a:srgbClr val="02C39A"/>
            </a:solidFill>
            <a:prstDash val="solid"/>
          </a:ln>
        </p:spPr>
      </p:sp>
      <p:sp>
        <p:nvSpPr>
          <p:cNvPr id="4" name="Shape 2"/>
          <p:cNvSpPr/>
          <p:nvPr/>
        </p:nvSpPr>
        <p:spPr>
          <a:xfrm>
            <a:off x="548640" y="749808"/>
            <a:ext cx="73152" cy="73152"/>
          </a:xfrm>
          <a:prstGeom prst="oval">
            <a:avLst/>
          </a:prstGeom>
          <a:solidFill>
            <a:srgbClr val="028090"/>
          </a:solidFill>
          <a:ln w="12700">
            <a:solidFill>
              <a:srgbClr val="028090"/>
            </a:solidFill>
            <a:prstDash val="solid"/>
          </a:ln>
        </p:spPr>
      </p:sp>
      <p:sp>
        <p:nvSpPr>
          <p:cNvPr id="5" name="Shape 3"/>
          <p:cNvSpPr/>
          <p:nvPr/>
        </p:nvSpPr>
        <p:spPr>
          <a:xfrm>
            <a:off x="685800" y="749808"/>
            <a:ext cx="73152" cy="73152"/>
          </a:xfrm>
          <a:prstGeom prst="oval">
            <a:avLst/>
          </a:prstGeom>
          <a:solidFill>
            <a:srgbClr val="E2EAF0"/>
          </a:solidFill>
          <a:ln w="12700">
            <a:solidFill>
              <a:srgbClr val="E2EAF0"/>
            </a:solidFill>
            <a:prstDash val="solid"/>
          </a:ln>
        </p:spPr>
      </p:sp>
      <p:sp>
        <p:nvSpPr>
          <p:cNvPr id="6" name="Text 4"/>
          <p:cNvSpPr/>
          <p:nvPr/>
        </p:nvSpPr>
        <p:spPr>
          <a:xfrm>
            <a:off x="411480" y="4846320"/>
            <a:ext cx="832104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MindEase · ESD Project 2025–26 · Techno India University</a:t>
            </a:r>
            <a:endParaRPr lang="en-US" sz="900" dirty="0"/>
          </a:p>
        </p:txBody>
      </p:sp>
      <p:sp>
        <p:nvSpPr>
          <p:cNvPr id="7" name="Shape 5"/>
          <p:cNvSpPr/>
          <p:nvPr/>
        </p:nvSpPr>
        <p:spPr>
          <a:xfrm>
            <a:off x="411480" y="914400"/>
            <a:ext cx="3840480" cy="3566160"/>
          </a:xfrm>
          <a:prstGeom prst="roundRect">
            <a:avLst>
              <a:gd name="adj" fmla="val 3077"/>
            </a:avLst>
          </a:prstGeom>
          <a:solidFill>
            <a:srgbClr val="E6F7F9"/>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005840"/>
            <a:ext cx="3474720" cy="347472"/>
          </a:xfrm>
          <a:prstGeom prst="rect">
            <a:avLst/>
          </a:prstGeom>
          <a:noFill/>
          <a:ln/>
        </p:spPr>
        <p:txBody>
          <a:bodyPr wrap="square" lIns="0" tIns="0" rIns="0" bIns="0" rtlCol="0" anchor="ctr"/>
          <a:lstStyle/>
          <a:p>
            <a:pPr algn="l" indent="0" marL="0">
              <a:buNone/>
            </a:pPr>
            <a:r>
              <a:rPr lang="en-US" sz="1500" b="1" dirty="0">
                <a:solidFill>
                  <a:srgbClr val="015F6B"/>
                </a:solidFill>
                <a:latin typeface="Calibri" pitchFamily="34" charset="0"/>
                <a:ea typeface="Calibri" pitchFamily="34" charset="-122"/>
                <a:cs typeface="Calibri" pitchFamily="34" charset="-120"/>
              </a:rPr>
              <a:t>Current Impact</a:t>
            </a:r>
            <a:endParaRPr lang="en-US" sz="1500" dirty="0"/>
          </a:p>
        </p:txBody>
      </p:sp>
      <p:sp>
        <p:nvSpPr>
          <p:cNvPr id="9" name="Text 7"/>
          <p:cNvSpPr/>
          <p:nvPr/>
        </p:nvSpPr>
        <p:spPr>
          <a:xfrm>
            <a:off x="594360" y="1463040"/>
            <a:ext cx="3474720" cy="2834640"/>
          </a:xfrm>
          <a:prstGeom prst="rect">
            <a:avLst/>
          </a:prstGeom>
          <a:noFill/>
          <a:ln/>
        </p:spPr>
        <p:txBody>
          <a:bodyPr wrap="square" lIns="0" tIns="0" rIns="0" bIns="0" rtlCol="0" anchor="ctr"/>
          <a:lstStyle/>
          <a:p>
            <a:pPr algn="l" indent="0" marL="0">
              <a:spcAft>
                <a:spcPts val="800"/>
              </a:spcAft>
              <a:buNone/>
            </a:pPr>
            <a:r>
              <a:rPr lang="en-US" sz="1200" dirty="0">
                <a:solidFill>
                  <a:srgbClr val="015F6B"/>
                </a:solidFill>
                <a:latin typeface="Calibri" pitchFamily="34" charset="0"/>
                <a:ea typeface="Calibri" pitchFamily="34" charset="-122"/>
                <a:cs typeface="Calibri" pitchFamily="34" charset="-120"/>
              </a:rPr>
              <a:t>✓  Empowers students to self-monitor mental wellness daily</a:t>
            </a:r>
            <a:endParaRPr lang="en-US" sz="1200" dirty="0"/>
          </a:p>
          <a:p>
            <a:pPr algn="l" indent="0" marL="0">
              <a:spcAft>
                <a:spcPts val="800"/>
              </a:spcAft>
              <a:buNone/>
            </a:pPr>
            <a:r>
              <a:rPr lang="en-US" sz="1200" dirty="0">
                <a:solidFill>
                  <a:srgbClr val="015F6B"/>
                </a:solidFill>
                <a:latin typeface="Calibri" pitchFamily="34" charset="0"/>
                <a:ea typeface="Calibri" pitchFamily="34" charset="-122"/>
                <a:cs typeface="Calibri" pitchFamily="34" charset="-120"/>
              </a:rPr>
              <a:t>✓  Reduces dependency on overburdened campus counseling</a:t>
            </a:r>
            <a:endParaRPr lang="en-US" sz="1200" dirty="0"/>
          </a:p>
          <a:p>
            <a:pPr algn="l" indent="0" marL="0">
              <a:spcAft>
                <a:spcPts val="800"/>
              </a:spcAft>
              <a:buNone/>
            </a:pPr>
            <a:r>
              <a:rPr lang="en-US" sz="1200" dirty="0">
                <a:solidFill>
                  <a:srgbClr val="015F6B"/>
                </a:solidFill>
                <a:latin typeface="Calibri" pitchFamily="34" charset="0"/>
                <a:ea typeface="Calibri" pitchFamily="34" charset="-122"/>
                <a:cs typeface="Calibri" pitchFamily="34" charset="-120"/>
              </a:rPr>
              <a:t>✓  Normalises mental health conversations through gamification</a:t>
            </a:r>
            <a:endParaRPr lang="en-US" sz="1200" dirty="0"/>
          </a:p>
          <a:p>
            <a:pPr algn="l" indent="0" marL="0">
              <a:spcAft>
                <a:spcPts val="800"/>
              </a:spcAft>
              <a:buNone/>
            </a:pPr>
            <a:r>
              <a:rPr lang="en-US" sz="1200" dirty="0">
                <a:solidFill>
                  <a:srgbClr val="015F6B"/>
                </a:solidFill>
                <a:latin typeface="Calibri" pitchFamily="34" charset="0"/>
                <a:ea typeface="Calibri" pitchFamily="34" charset="-122"/>
                <a:cs typeface="Calibri" pitchFamily="34" charset="-120"/>
              </a:rPr>
              <a:t>✓  Provides 24×7 crisis support with zero wait time</a:t>
            </a:r>
            <a:endParaRPr lang="en-US" sz="1200" dirty="0"/>
          </a:p>
          <a:p>
            <a:pPr algn="l" indent="0" marL="0">
              <a:spcAft>
                <a:spcPts val="800"/>
              </a:spcAft>
              <a:buNone/>
            </a:pPr>
            <a:r>
              <a:rPr lang="en-US" sz="1200" dirty="0">
                <a:solidFill>
                  <a:srgbClr val="015F6B"/>
                </a:solidFill>
                <a:latin typeface="Calibri" pitchFamily="34" charset="0"/>
                <a:ea typeface="Calibri" pitchFamily="34" charset="-122"/>
                <a:cs typeface="Calibri" pitchFamily="34" charset="-120"/>
              </a:rPr>
              <a:t>✓  Aligned with India's National Mental Health Policy goals</a:t>
            </a:r>
            <a:endParaRPr lang="en-US" sz="1200" dirty="0"/>
          </a:p>
        </p:txBody>
      </p:sp>
      <p:sp>
        <p:nvSpPr>
          <p:cNvPr id="10" name="Shape 8"/>
          <p:cNvSpPr/>
          <p:nvPr/>
        </p:nvSpPr>
        <p:spPr>
          <a:xfrm>
            <a:off x="4434840" y="914400"/>
            <a:ext cx="4297680" cy="3566160"/>
          </a:xfrm>
          <a:prstGeom prst="roundRect">
            <a:avLst>
              <a:gd name="adj" fmla="val 3077"/>
            </a:avLst>
          </a:prstGeom>
          <a:solidFill>
            <a:srgbClr val="FFFFFF"/>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617720" y="1005840"/>
            <a:ext cx="3931920" cy="347472"/>
          </a:xfrm>
          <a:prstGeom prst="rect">
            <a:avLst/>
          </a:prstGeom>
          <a:noFill/>
          <a:ln/>
        </p:spPr>
        <p:txBody>
          <a:bodyPr wrap="square" lIns="0" tIns="0" rIns="0" bIns="0" rtlCol="0" anchor="ctr"/>
          <a:lstStyle/>
          <a:p>
            <a:pPr algn="l" indent="0" marL="0">
              <a:buNone/>
            </a:pPr>
            <a:r>
              <a:rPr lang="en-US" sz="1500" b="1" dirty="0">
                <a:solidFill>
                  <a:srgbClr val="028090"/>
                </a:solidFill>
                <a:latin typeface="Calibri" pitchFamily="34" charset="0"/>
                <a:ea typeface="Calibri" pitchFamily="34" charset="-122"/>
                <a:cs typeface="Calibri" pitchFamily="34" charset="-120"/>
              </a:rPr>
              <a:t>Future Scope</a:t>
            </a:r>
            <a:endParaRPr lang="en-US" sz="1500" dirty="0"/>
          </a:p>
        </p:txBody>
      </p:sp>
      <p:sp>
        <p:nvSpPr>
          <p:cNvPr id="12" name="Shape 10"/>
          <p:cNvSpPr/>
          <p:nvPr/>
        </p:nvSpPr>
        <p:spPr>
          <a:xfrm>
            <a:off x="4617720" y="1554480"/>
            <a:ext cx="292608" cy="292608"/>
          </a:xfrm>
          <a:prstGeom prst="oval">
            <a:avLst/>
          </a:prstGeom>
          <a:solidFill>
            <a:srgbClr val="02C39A"/>
          </a:solidFill>
          <a:ln w="12700">
            <a:solidFill>
              <a:srgbClr val="FFFFFF"/>
            </a:solidFill>
            <a:prstDash val="solid"/>
          </a:ln>
        </p:spPr>
      </p:sp>
      <p:sp>
        <p:nvSpPr>
          <p:cNvPr id="13" name="Text 11"/>
          <p:cNvSpPr/>
          <p:nvPr/>
        </p:nvSpPr>
        <p:spPr>
          <a:xfrm>
            <a:off x="5029200" y="1508760"/>
            <a:ext cx="914400" cy="365760"/>
          </a:xfrm>
          <a:prstGeom prst="rect">
            <a:avLst/>
          </a:prstGeom>
          <a:noFill/>
          <a:ln/>
        </p:spPr>
        <p:txBody>
          <a:bodyPr wrap="square" lIns="0" tIns="0" rIns="0" bIns="0" rtlCol="0" anchor="ctr"/>
          <a:lstStyle/>
          <a:p>
            <a:pPr algn="l" indent="0" marL="0">
              <a:buNone/>
            </a:pPr>
            <a:r>
              <a:rPr lang="en-US" sz="1200" b="1" dirty="0">
                <a:solidFill>
                  <a:srgbClr val="028090"/>
                </a:solidFill>
                <a:latin typeface="Calibri" pitchFamily="34" charset="0"/>
                <a:ea typeface="Calibri" pitchFamily="34" charset="-122"/>
                <a:cs typeface="Calibri" pitchFamily="34" charset="-120"/>
              </a:rPr>
              <a:t>Phase 2: </a:t>
            </a:r>
            <a:endParaRPr lang="en-US" sz="1200" dirty="0"/>
          </a:p>
        </p:txBody>
      </p:sp>
      <p:sp>
        <p:nvSpPr>
          <p:cNvPr id="14" name="Text 12"/>
          <p:cNvSpPr/>
          <p:nvPr/>
        </p:nvSpPr>
        <p:spPr>
          <a:xfrm>
            <a:off x="5943600" y="1508760"/>
            <a:ext cx="2651760" cy="365760"/>
          </a:xfrm>
          <a:prstGeom prst="rect">
            <a:avLst/>
          </a:prstGeom>
          <a:noFill/>
          <a:ln/>
        </p:spPr>
        <p:txBody>
          <a:bodyPr wrap="square" lIns="0" tIns="0" rIns="0" bIns="0" rtlCol="0" anchor="ctr"/>
          <a:lstStyle/>
          <a:p>
            <a:pPr algn="l" indent="0" marL="0">
              <a:buNone/>
            </a:pPr>
            <a:r>
              <a:rPr lang="en-US" sz="1200" dirty="0">
                <a:solidFill>
                  <a:srgbClr val="4A6978"/>
                </a:solidFill>
                <a:latin typeface="Calibri" pitchFamily="34" charset="0"/>
                <a:ea typeface="Calibri" pitchFamily="34" charset="-122"/>
                <a:cs typeface="Calibri" pitchFamily="34" charset="-120"/>
              </a:rPr>
              <a:t>AI chatbot for real-time emotional support</a:t>
            </a:r>
            <a:endParaRPr lang="en-US" sz="1200" dirty="0"/>
          </a:p>
        </p:txBody>
      </p:sp>
      <p:sp>
        <p:nvSpPr>
          <p:cNvPr id="15" name="Shape 13"/>
          <p:cNvSpPr/>
          <p:nvPr/>
        </p:nvSpPr>
        <p:spPr>
          <a:xfrm>
            <a:off x="4617720" y="2157984"/>
            <a:ext cx="292608" cy="292608"/>
          </a:xfrm>
          <a:prstGeom prst="oval">
            <a:avLst/>
          </a:prstGeom>
          <a:solidFill>
            <a:srgbClr val="02C39A"/>
          </a:solidFill>
          <a:ln w="12700">
            <a:solidFill>
              <a:srgbClr val="FFFFFF"/>
            </a:solidFill>
            <a:prstDash val="solid"/>
          </a:ln>
        </p:spPr>
      </p:sp>
      <p:sp>
        <p:nvSpPr>
          <p:cNvPr id="16" name="Text 14"/>
          <p:cNvSpPr/>
          <p:nvPr/>
        </p:nvSpPr>
        <p:spPr>
          <a:xfrm>
            <a:off x="5029200" y="2112264"/>
            <a:ext cx="914400" cy="365760"/>
          </a:xfrm>
          <a:prstGeom prst="rect">
            <a:avLst/>
          </a:prstGeom>
          <a:noFill/>
          <a:ln/>
        </p:spPr>
        <p:txBody>
          <a:bodyPr wrap="square" lIns="0" tIns="0" rIns="0" bIns="0" rtlCol="0" anchor="ctr"/>
          <a:lstStyle/>
          <a:p>
            <a:pPr algn="l" indent="0" marL="0">
              <a:buNone/>
            </a:pPr>
            <a:r>
              <a:rPr lang="en-US" sz="1200" b="1" dirty="0">
                <a:solidFill>
                  <a:srgbClr val="028090"/>
                </a:solidFill>
                <a:latin typeface="Calibri" pitchFamily="34" charset="0"/>
                <a:ea typeface="Calibri" pitchFamily="34" charset="-122"/>
                <a:cs typeface="Calibri" pitchFamily="34" charset="-120"/>
              </a:rPr>
              <a:t>Phase 3: </a:t>
            </a:r>
            <a:endParaRPr lang="en-US" sz="1200" dirty="0"/>
          </a:p>
        </p:txBody>
      </p:sp>
      <p:sp>
        <p:nvSpPr>
          <p:cNvPr id="17" name="Text 15"/>
          <p:cNvSpPr/>
          <p:nvPr/>
        </p:nvSpPr>
        <p:spPr>
          <a:xfrm>
            <a:off x="5943600" y="2112264"/>
            <a:ext cx="2651760" cy="365760"/>
          </a:xfrm>
          <a:prstGeom prst="rect">
            <a:avLst/>
          </a:prstGeom>
          <a:noFill/>
          <a:ln/>
        </p:spPr>
        <p:txBody>
          <a:bodyPr wrap="square" lIns="0" tIns="0" rIns="0" bIns="0" rtlCol="0" anchor="ctr"/>
          <a:lstStyle/>
          <a:p>
            <a:pPr algn="l" indent="0" marL="0">
              <a:buNone/>
            </a:pPr>
            <a:r>
              <a:rPr lang="en-US" sz="1200" dirty="0">
                <a:solidFill>
                  <a:srgbClr val="4A6978"/>
                </a:solidFill>
                <a:latin typeface="Calibri" pitchFamily="34" charset="0"/>
                <a:ea typeface="Calibri" pitchFamily="34" charset="-122"/>
                <a:cs typeface="Calibri" pitchFamily="34" charset="-120"/>
              </a:rPr>
              <a:t>University admin analytics dashboard</a:t>
            </a:r>
            <a:endParaRPr lang="en-US" sz="1200" dirty="0"/>
          </a:p>
        </p:txBody>
      </p:sp>
      <p:sp>
        <p:nvSpPr>
          <p:cNvPr id="18" name="Shape 16"/>
          <p:cNvSpPr/>
          <p:nvPr/>
        </p:nvSpPr>
        <p:spPr>
          <a:xfrm>
            <a:off x="4617720" y="2761488"/>
            <a:ext cx="292608" cy="292608"/>
          </a:xfrm>
          <a:prstGeom prst="oval">
            <a:avLst/>
          </a:prstGeom>
          <a:solidFill>
            <a:srgbClr val="028090"/>
          </a:solidFill>
          <a:ln w="12700">
            <a:solidFill>
              <a:srgbClr val="FFFFFF"/>
            </a:solidFill>
            <a:prstDash val="solid"/>
          </a:ln>
        </p:spPr>
      </p:sp>
      <p:sp>
        <p:nvSpPr>
          <p:cNvPr id="19" name="Text 17"/>
          <p:cNvSpPr/>
          <p:nvPr/>
        </p:nvSpPr>
        <p:spPr>
          <a:xfrm>
            <a:off x="5029200" y="2715768"/>
            <a:ext cx="914400" cy="365760"/>
          </a:xfrm>
          <a:prstGeom prst="rect">
            <a:avLst/>
          </a:prstGeom>
          <a:noFill/>
          <a:ln/>
        </p:spPr>
        <p:txBody>
          <a:bodyPr wrap="square" lIns="0" tIns="0" rIns="0" bIns="0" rtlCol="0" anchor="ctr"/>
          <a:lstStyle/>
          <a:p>
            <a:pPr algn="l" indent="0" marL="0">
              <a:buNone/>
            </a:pPr>
            <a:r>
              <a:rPr lang="en-US" sz="1200" b="1" dirty="0">
                <a:solidFill>
                  <a:srgbClr val="028090"/>
                </a:solidFill>
                <a:latin typeface="Calibri" pitchFamily="34" charset="0"/>
                <a:ea typeface="Calibri" pitchFamily="34" charset="-122"/>
                <a:cs typeface="Calibri" pitchFamily="34" charset="-120"/>
              </a:rPr>
              <a:t>Phase 4: </a:t>
            </a:r>
            <a:endParaRPr lang="en-US" sz="1200" dirty="0"/>
          </a:p>
        </p:txBody>
      </p:sp>
      <p:sp>
        <p:nvSpPr>
          <p:cNvPr id="20" name="Text 18"/>
          <p:cNvSpPr/>
          <p:nvPr/>
        </p:nvSpPr>
        <p:spPr>
          <a:xfrm>
            <a:off x="5943600" y="2715768"/>
            <a:ext cx="2651760" cy="365760"/>
          </a:xfrm>
          <a:prstGeom prst="rect">
            <a:avLst/>
          </a:prstGeom>
          <a:noFill/>
          <a:ln/>
        </p:spPr>
        <p:txBody>
          <a:bodyPr wrap="square" lIns="0" tIns="0" rIns="0" bIns="0" rtlCol="0" anchor="ctr"/>
          <a:lstStyle/>
          <a:p>
            <a:pPr algn="l" indent="0" marL="0">
              <a:buNone/>
            </a:pPr>
            <a:r>
              <a:rPr lang="en-US" sz="1200" dirty="0">
                <a:solidFill>
                  <a:srgbClr val="4A6978"/>
                </a:solidFill>
                <a:latin typeface="Calibri" pitchFamily="34" charset="0"/>
                <a:ea typeface="Calibri" pitchFamily="34" charset="-122"/>
                <a:cs typeface="Calibri" pitchFamily="34" charset="-120"/>
              </a:rPr>
              <a:t>Wearable integration (heart rate, sleep data)</a:t>
            </a:r>
            <a:endParaRPr lang="en-US" sz="1200" dirty="0"/>
          </a:p>
        </p:txBody>
      </p:sp>
      <p:sp>
        <p:nvSpPr>
          <p:cNvPr id="21" name="Shape 19"/>
          <p:cNvSpPr/>
          <p:nvPr/>
        </p:nvSpPr>
        <p:spPr>
          <a:xfrm>
            <a:off x="4617720" y="3364992"/>
            <a:ext cx="292608" cy="292608"/>
          </a:xfrm>
          <a:prstGeom prst="oval">
            <a:avLst/>
          </a:prstGeom>
          <a:solidFill>
            <a:srgbClr val="028090"/>
          </a:solidFill>
          <a:ln w="12700">
            <a:solidFill>
              <a:srgbClr val="FFFFFF"/>
            </a:solidFill>
            <a:prstDash val="solid"/>
          </a:ln>
        </p:spPr>
      </p:sp>
      <p:sp>
        <p:nvSpPr>
          <p:cNvPr id="22" name="Text 20"/>
          <p:cNvSpPr/>
          <p:nvPr/>
        </p:nvSpPr>
        <p:spPr>
          <a:xfrm>
            <a:off x="5029200" y="3319272"/>
            <a:ext cx="914400" cy="365760"/>
          </a:xfrm>
          <a:prstGeom prst="rect">
            <a:avLst/>
          </a:prstGeom>
          <a:noFill/>
          <a:ln/>
        </p:spPr>
        <p:txBody>
          <a:bodyPr wrap="square" lIns="0" tIns="0" rIns="0" bIns="0" rtlCol="0" anchor="ctr"/>
          <a:lstStyle/>
          <a:p>
            <a:pPr algn="l" indent="0" marL="0">
              <a:buNone/>
            </a:pPr>
            <a:r>
              <a:rPr lang="en-US" sz="1200" b="1" dirty="0">
                <a:solidFill>
                  <a:srgbClr val="028090"/>
                </a:solidFill>
                <a:latin typeface="Calibri" pitchFamily="34" charset="0"/>
                <a:ea typeface="Calibri" pitchFamily="34" charset="-122"/>
                <a:cs typeface="Calibri" pitchFamily="34" charset="-120"/>
              </a:rPr>
              <a:t>Phase 5: </a:t>
            </a:r>
            <a:endParaRPr lang="en-US" sz="1200" dirty="0"/>
          </a:p>
        </p:txBody>
      </p:sp>
      <p:sp>
        <p:nvSpPr>
          <p:cNvPr id="23" name="Text 21"/>
          <p:cNvSpPr/>
          <p:nvPr/>
        </p:nvSpPr>
        <p:spPr>
          <a:xfrm>
            <a:off x="5943600" y="3319272"/>
            <a:ext cx="2651760" cy="365760"/>
          </a:xfrm>
          <a:prstGeom prst="rect">
            <a:avLst/>
          </a:prstGeom>
          <a:noFill/>
          <a:ln/>
        </p:spPr>
        <p:txBody>
          <a:bodyPr wrap="square" lIns="0" tIns="0" rIns="0" bIns="0" rtlCol="0" anchor="ctr"/>
          <a:lstStyle/>
          <a:p>
            <a:pPr algn="l" indent="0" marL="0">
              <a:buNone/>
            </a:pPr>
            <a:r>
              <a:rPr lang="en-US" sz="1200" dirty="0">
                <a:solidFill>
                  <a:srgbClr val="4A6978"/>
                </a:solidFill>
                <a:latin typeface="Calibri" pitchFamily="34" charset="0"/>
                <a:ea typeface="Calibri" pitchFamily="34" charset="-122"/>
                <a:cs typeface="Calibri" pitchFamily="34" charset="-120"/>
              </a:rPr>
              <a:t>Multilingual support (Bengali, Hindi, Tamil)</a:t>
            </a:r>
            <a:endParaRPr lang="en-US" sz="1200" dirty="0"/>
          </a:p>
        </p:txBody>
      </p:sp>
      <p:sp>
        <p:nvSpPr>
          <p:cNvPr id="24" name="Shape 22"/>
          <p:cNvSpPr/>
          <p:nvPr/>
        </p:nvSpPr>
        <p:spPr>
          <a:xfrm>
            <a:off x="4617720" y="3968496"/>
            <a:ext cx="292608" cy="292608"/>
          </a:xfrm>
          <a:prstGeom prst="oval">
            <a:avLst/>
          </a:prstGeom>
          <a:solidFill>
            <a:srgbClr val="028090"/>
          </a:solidFill>
          <a:ln w="12700">
            <a:solidFill>
              <a:srgbClr val="FFFFFF"/>
            </a:solidFill>
            <a:prstDash val="solid"/>
          </a:ln>
        </p:spPr>
      </p:sp>
      <p:sp>
        <p:nvSpPr>
          <p:cNvPr id="25" name="Text 23"/>
          <p:cNvSpPr/>
          <p:nvPr/>
        </p:nvSpPr>
        <p:spPr>
          <a:xfrm>
            <a:off x="5029200" y="3922776"/>
            <a:ext cx="914400" cy="365760"/>
          </a:xfrm>
          <a:prstGeom prst="rect">
            <a:avLst/>
          </a:prstGeom>
          <a:noFill/>
          <a:ln/>
        </p:spPr>
        <p:txBody>
          <a:bodyPr wrap="square" lIns="0" tIns="0" rIns="0" bIns="0" rtlCol="0" anchor="ctr"/>
          <a:lstStyle/>
          <a:p>
            <a:pPr algn="l" indent="0" marL="0">
              <a:buNone/>
            </a:pPr>
            <a:r>
              <a:rPr lang="en-US" sz="1200" b="1" dirty="0">
                <a:solidFill>
                  <a:srgbClr val="028090"/>
                </a:solidFill>
                <a:latin typeface="Calibri" pitchFamily="34" charset="0"/>
                <a:ea typeface="Calibri" pitchFamily="34" charset="-122"/>
                <a:cs typeface="Calibri" pitchFamily="34" charset="-120"/>
              </a:rPr>
              <a:t>Phase 6: </a:t>
            </a:r>
            <a:endParaRPr lang="en-US" sz="1200" dirty="0"/>
          </a:p>
        </p:txBody>
      </p:sp>
      <p:sp>
        <p:nvSpPr>
          <p:cNvPr id="26" name="Text 24"/>
          <p:cNvSpPr/>
          <p:nvPr/>
        </p:nvSpPr>
        <p:spPr>
          <a:xfrm>
            <a:off x="5943600" y="3922776"/>
            <a:ext cx="2651760" cy="365760"/>
          </a:xfrm>
          <a:prstGeom prst="rect">
            <a:avLst/>
          </a:prstGeom>
          <a:noFill/>
          <a:ln/>
        </p:spPr>
        <p:txBody>
          <a:bodyPr wrap="square" lIns="0" tIns="0" rIns="0" bIns="0" rtlCol="0" anchor="ctr"/>
          <a:lstStyle/>
          <a:p>
            <a:pPr algn="l" indent="0" marL="0">
              <a:buNone/>
            </a:pPr>
            <a:r>
              <a:rPr lang="en-US" sz="1200" dirty="0">
                <a:solidFill>
                  <a:srgbClr val="4A6978"/>
                </a:solidFill>
                <a:latin typeface="Calibri" pitchFamily="34" charset="0"/>
                <a:ea typeface="Calibri" pitchFamily="34" charset="-122"/>
                <a:cs typeface="Calibri" pitchFamily="34" charset="-120"/>
              </a:rPr>
              <a:t>Cloud deployment &amp; mobile PWA version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B36"/>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028090"/>
          </a:solidFill>
          <a:ln w="12700">
            <a:solidFill>
              <a:srgbClr val="028090"/>
            </a:solidFill>
            <a:prstDash val="solid"/>
          </a:ln>
        </p:spPr>
      </p:sp>
      <p:sp>
        <p:nvSpPr>
          <p:cNvPr id="3" name="Shape 1"/>
          <p:cNvSpPr/>
          <p:nvPr/>
        </p:nvSpPr>
        <p:spPr>
          <a:xfrm>
            <a:off x="-457200" y="3200400"/>
            <a:ext cx="1828800" cy="1828800"/>
          </a:xfrm>
          <a:prstGeom prst="oval">
            <a:avLst/>
          </a:prstGeom>
          <a:solidFill>
            <a:srgbClr val="02C39A">
              <a:alpha val="30000"/>
            </a:srgbClr>
          </a:solidFill>
          <a:ln w="12700">
            <a:solidFill>
              <a:srgbClr val="02C39A"/>
            </a:solidFill>
            <a:prstDash val="solid"/>
          </a:ln>
        </p:spPr>
      </p:sp>
      <p:pic>
        <p:nvPicPr>
          <p:cNvPr id="4" name="Image 0" descr="preencoded.png">    </p:cNvPr>
          <p:cNvPicPr>
            <a:picLocks noChangeAspect="1"/>
          </p:cNvPicPr>
          <p:nvPr/>
        </p:nvPicPr>
        <p:blipFill>
          <a:blip r:embed="rId1"/>
          <a:stretch>
            <a:fillRect/>
          </a:stretch>
        </p:blipFill>
        <p:spPr>
          <a:xfrm>
            <a:off x="960120" y="822960"/>
            <a:ext cx="1737360" cy="1737360"/>
          </a:xfrm>
          <a:prstGeom prst="rect">
            <a:avLst/>
          </a:prstGeom>
        </p:spPr>
      </p:pic>
      <p:sp>
        <p:nvSpPr>
          <p:cNvPr id="5" name="Text 2"/>
          <p:cNvSpPr/>
          <p:nvPr/>
        </p:nvSpPr>
        <p:spPr>
          <a:xfrm>
            <a:off x="182880" y="2697480"/>
            <a:ext cx="329184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Thank You!</a:t>
            </a:r>
            <a:endParaRPr lang="en-US" sz="3000" dirty="0"/>
          </a:p>
        </p:txBody>
      </p:sp>
      <p:sp>
        <p:nvSpPr>
          <p:cNvPr id="6" name="Text 3"/>
          <p:cNvSpPr/>
          <p:nvPr/>
        </p:nvSpPr>
        <p:spPr>
          <a:xfrm>
            <a:off x="182880" y="3383280"/>
            <a:ext cx="3291840" cy="914400"/>
          </a:xfrm>
          <a:prstGeom prst="rect">
            <a:avLst/>
          </a:prstGeom>
          <a:noFill/>
          <a:ln/>
        </p:spPr>
        <p:txBody>
          <a:bodyPr wrap="square" lIns="0" tIns="0" rIns="0" bIns="0" rtlCol="0" anchor="ctr"/>
          <a:lstStyle/>
          <a:p>
            <a:pPr algn="ctr" indent="0" marL="0">
              <a:buNone/>
            </a:pPr>
            <a:r>
              <a:rPr lang="en-US" sz="1200" dirty="0">
                <a:solidFill>
                  <a:srgbClr val="E0F9F4"/>
                </a:solidFill>
                <a:latin typeface="Calibri" pitchFamily="34" charset="0"/>
                <a:ea typeface="Calibri" pitchFamily="34" charset="-122"/>
                <a:cs typeface="Calibri" pitchFamily="34" charset="-120"/>
              </a:rPr>
              <a:t>Atanu Banerjee</a:t>
            </a:r>
            <a:endParaRPr lang="en-US" sz="1200" dirty="0"/>
          </a:p>
          <a:p>
            <a:pPr algn="ctr" indent="0" marL="0">
              <a:buNone/>
            </a:pPr>
            <a:r>
              <a:rPr lang="en-US" sz="1200" dirty="0">
                <a:solidFill>
                  <a:srgbClr val="E0F9F4"/>
                </a:solidFill>
                <a:latin typeface="Calibri" pitchFamily="34" charset="0"/>
                <a:ea typeface="Calibri" pitchFamily="34" charset="-122"/>
                <a:cs typeface="Calibri" pitchFamily="34" charset="-120"/>
              </a:rPr>
              <a:t>231001001157</a:t>
            </a:r>
            <a:endParaRPr lang="en-US" sz="1200" dirty="0"/>
          </a:p>
          <a:p>
            <a:pPr algn="ctr" indent="0" marL="0">
              <a:buNone/>
            </a:pPr>
            <a:r>
              <a:rPr lang="en-US" sz="1200" dirty="0">
                <a:solidFill>
                  <a:srgbClr val="E0F9F4"/>
                </a:solidFill>
                <a:latin typeface="Calibri" pitchFamily="34" charset="0"/>
                <a:ea typeface="Calibri" pitchFamily="34" charset="-122"/>
                <a:cs typeface="Calibri" pitchFamily="34" charset="-120"/>
              </a:rPr>
              <a:t>CSE — Techno India University</a:t>
            </a:r>
            <a:endParaRPr lang="en-US" sz="1200" dirty="0"/>
          </a:p>
        </p:txBody>
      </p:sp>
      <p:sp>
        <p:nvSpPr>
          <p:cNvPr id="7" name="Text 4"/>
          <p:cNvSpPr/>
          <p:nvPr/>
        </p:nvSpPr>
        <p:spPr>
          <a:xfrm>
            <a:off x="3931920" y="228600"/>
            <a:ext cx="4937760" cy="411480"/>
          </a:xfrm>
          <a:prstGeom prst="rect">
            <a:avLst/>
          </a:prstGeom>
          <a:noFill/>
          <a:ln/>
        </p:spPr>
        <p:txBody>
          <a:bodyPr wrap="square" lIns="0" tIns="0" rIns="0" bIns="0" rtlCol="0" anchor="ctr"/>
          <a:lstStyle/>
          <a:p>
            <a:pPr algn="l" indent="0" marL="0">
              <a:buNone/>
            </a:pPr>
            <a:r>
              <a:rPr lang="en-US" sz="2000" b="1" dirty="0">
                <a:solidFill>
                  <a:srgbClr val="02C39A"/>
                </a:solidFill>
                <a:latin typeface="Calibri" pitchFamily="34" charset="0"/>
                <a:ea typeface="Calibri" pitchFamily="34" charset="-122"/>
                <a:cs typeface="Calibri" pitchFamily="34" charset="-120"/>
              </a:rPr>
              <a:t>References</a:t>
            </a:r>
            <a:endParaRPr lang="en-US" sz="2000" dirty="0"/>
          </a:p>
        </p:txBody>
      </p:sp>
      <p:sp>
        <p:nvSpPr>
          <p:cNvPr id="8" name="Shape 5"/>
          <p:cNvSpPr/>
          <p:nvPr/>
        </p:nvSpPr>
        <p:spPr>
          <a:xfrm>
            <a:off x="3931920" y="749808"/>
            <a:ext cx="4937760" cy="3474720"/>
          </a:xfrm>
          <a:prstGeom prst="roundRect">
            <a:avLst>
              <a:gd name="adj" fmla="val 3158"/>
            </a:avLst>
          </a:prstGeom>
          <a:solidFill>
            <a:srgbClr val="142D3C"/>
          </a:solidFill>
          <a:ln w="12700">
            <a:solidFill>
              <a:srgbClr val="E2EAF0"/>
            </a:solidFill>
            <a:prstDash val="solid"/>
          </a:ln>
          <a:effectLst>
            <a:outerShdw sx="100000" sy="100000" kx="0" ky="0" algn="bl" rotWithShape="0" blurRad="101600" dist="38100" dir="2700000">
              <a:srgbClr val="000000">
                <a:alpha val="12000"/>
              </a:srgbClr>
            </a:outerShdw>
          </a:effectLst>
        </p:spPr>
      </p:sp>
      <p:sp>
        <p:nvSpPr>
          <p:cNvPr id="9" name="Text 6"/>
          <p:cNvSpPr/>
          <p:nvPr/>
        </p:nvSpPr>
        <p:spPr>
          <a:xfrm>
            <a:off x="4114800" y="868680"/>
            <a:ext cx="4572000" cy="3246120"/>
          </a:xfrm>
          <a:prstGeom prst="rect">
            <a:avLst/>
          </a:prstGeom>
          <a:noFill/>
          <a:ln/>
        </p:spPr>
        <p:txBody>
          <a:bodyPr wrap="square" lIns="0" tIns="0" rIns="0" bIns="0" rtlCol="0" anchor="ctr"/>
          <a:lstStyle/>
          <a:p>
            <a:pPr algn="l" indent="0" marL="0">
              <a:spcAft>
                <a:spcPts val="700"/>
              </a:spcAft>
              <a:buNone/>
            </a:pPr>
            <a:r>
              <a:rPr lang="en-US" sz="1050" dirty="0">
                <a:solidFill>
                  <a:srgbClr val="E2EAF0"/>
                </a:solidFill>
                <a:latin typeface="Calibri" pitchFamily="34" charset="0"/>
                <a:ea typeface="Calibri" pitchFamily="34" charset="-122"/>
                <a:cs typeface="Calibri" pitchFamily="34" charset="-120"/>
              </a:rPr>
              <a:t>[1]  WHO (2022). World Mental Health Report. World Health Organization.</a:t>
            </a:r>
            <a:endParaRPr lang="en-US" sz="1050" dirty="0"/>
          </a:p>
          <a:p>
            <a:pPr algn="l" indent="0" marL="0">
              <a:spcAft>
                <a:spcPts val="700"/>
              </a:spcAft>
              <a:buNone/>
            </a:pPr>
            <a:r>
              <a:rPr lang="en-US" sz="1050" dirty="0">
                <a:solidFill>
                  <a:srgbClr val="E2EAF0"/>
                </a:solidFill>
                <a:latin typeface="Calibri" pitchFamily="34" charset="0"/>
                <a:ea typeface="Calibri" pitchFamily="34" charset="-122"/>
                <a:cs typeface="Calibri" pitchFamily="34" charset="-120"/>
              </a:rPr>
              <a:t>[2]  Cohen, S. (1983). Perceived Stress Scale (PSS). Journal of Health &amp; Social Behavior.</a:t>
            </a:r>
            <a:endParaRPr lang="en-US" sz="1050" dirty="0"/>
          </a:p>
          <a:p>
            <a:pPr algn="l" indent="0" marL="0">
              <a:spcAft>
                <a:spcPts val="700"/>
              </a:spcAft>
              <a:buNone/>
            </a:pPr>
            <a:r>
              <a:rPr lang="en-US" sz="1050" dirty="0">
                <a:solidFill>
                  <a:srgbClr val="E2EAF0"/>
                </a:solidFill>
                <a:latin typeface="Calibri" pitchFamily="34" charset="0"/>
                <a:ea typeface="Calibri" pitchFamily="34" charset="-122"/>
                <a:cs typeface="Calibri" pitchFamily="34" charset="-120"/>
              </a:rPr>
              <a:t>[3]  NIMHANS (2023). National Mental Health Survey India — College Youth Data.</a:t>
            </a:r>
            <a:endParaRPr lang="en-US" sz="1050" dirty="0"/>
          </a:p>
          <a:p>
            <a:pPr algn="l" indent="0" marL="0">
              <a:spcAft>
                <a:spcPts val="700"/>
              </a:spcAft>
              <a:buNone/>
            </a:pPr>
            <a:r>
              <a:rPr lang="en-US" sz="1050" dirty="0">
                <a:solidFill>
                  <a:srgbClr val="E2EAF0"/>
                </a:solidFill>
                <a:latin typeface="Calibri" pitchFamily="34" charset="0"/>
                <a:ea typeface="Calibri" pitchFamily="34" charset="-122"/>
                <a:cs typeface="Calibri" pitchFamily="34" charset="-120"/>
              </a:rPr>
              <a:t>[4]  United Nations (2015). Transforming Our World: The 2030 Agenda for Sustainable Development. UN.</a:t>
            </a:r>
            <a:endParaRPr lang="en-US" sz="1050" dirty="0"/>
          </a:p>
          <a:p>
            <a:pPr algn="l" indent="0" marL="0">
              <a:spcAft>
                <a:spcPts val="700"/>
              </a:spcAft>
              <a:buNone/>
            </a:pPr>
            <a:r>
              <a:rPr lang="en-US" sz="1050" dirty="0">
                <a:solidFill>
                  <a:srgbClr val="E2EAF0"/>
                </a:solidFill>
                <a:latin typeface="Calibri" pitchFamily="34" charset="0"/>
                <a:ea typeface="Calibri" pitchFamily="34" charset="-122"/>
                <a:cs typeface="Calibri" pitchFamily="34" charset="-120"/>
              </a:rPr>
              <a:t>[5]  iCall — iCall.tiss.edu | Vandrevala Foundation — vandrevalafoundation.com</a:t>
            </a:r>
            <a:endParaRPr lang="en-US" sz="1050" dirty="0"/>
          </a:p>
          <a:p>
            <a:pPr algn="l" indent="0" marL="0">
              <a:spcAft>
                <a:spcPts val="700"/>
              </a:spcAft>
              <a:buNone/>
            </a:pPr>
            <a:r>
              <a:rPr lang="en-US" sz="1050" dirty="0">
                <a:solidFill>
                  <a:srgbClr val="E2EAF0"/>
                </a:solidFill>
                <a:latin typeface="Calibri" pitchFamily="34" charset="0"/>
                <a:ea typeface="Calibri" pitchFamily="34" charset="-122"/>
                <a:cs typeface="Calibri" pitchFamily="34" charset="-120"/>
              </a:rPr>
              <a:t>[6]  React.js Documentation — react.dev | FastAPI Documentation — fastapi.tiangolo.com</a:t>
            </a:r>
            <a:endParaRPr lang="en-US" sz="1050" dirty="0"/>
          </a:p>
          <a:p>
            <a:pPr algn="l" indent="0" marL="0">
              <a:spcAft>
                <a:spcPts val="700"/>
              </a:spcAft>
              <a:buNone/>
            </a:pPr>
            <a:r>
              <a:rPr lang="en-US" sz="1050" dirty="0">
                <a:solidFill>
                  <a:srgbClr val="E2EAF0"/>
                </a:solidFill>
                <a:latin typeface="Calibri" pitchFamily="34" charset="0"/>
                <a:ea typeface="Calibri" pitchFamily="34" charset="-122"/>
                <a:cs typeface="Calibri" pitchFamily="34" charset="-120"/>
              </a:rPr>
              <a:t>[7]  Tailwind CSS Documentation — tailwindcss.com</a:t>
            </a:r>
            <a:endParaRPr lang="en-US" sz="1050" dirty="0"/>
          </a:p>
        </p:txBody>
      </p:sp>
      <p:sp>
        <p:nvSpPr>
          <p:cNvPr id="10" name="Text 7"/>
          <p:cNvSpPr/>
          <p:nvPr/>
        </p:nvSpPr>
        <p:spPr>
          <a:xfrm>
            <a:off x="3931920" y="4407408"/>
            <a:ext cx="4937760" cy="365760"/>
          </a:xfrm>
          <a:prstGeom prst="rect">
            <a:avLst/>
          </a:prstGeom>
          <a:noFill/>
          <a:ln/>
        </p:spPr>
        <p:txBody>
          <a:bodyPr wrap="square" lIns="0" tIns="0" rIns="0" bIns="0" rtlCol="0" anchor="ctr"/>
          <a:lstStyle/>
          <a:p>
            <a:pPr algn="l" indent="0" marL="0">
              <a:buNone/>
            </a:pPr>
            <a:r>
              <a:rPr lang="en-US" sz="1400" i="1" dirty="0">
                <a:solidFill>
                  <a:srgbClr val="02C39A"/>
                </a:solidFill>
                <a:latin typeface="Calibri" pitchFamily="34" charset="0"/>
                <a:ea typeface="Calibri" pitchFamily="34" charset="-122"/>
                <a:cs typeface="Calibri" pitchFamily="34" charset="-120"/>
              </a:rPr>
              <a:t>Questions &amp; Discussion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MindEase – Student Mental Wellness Platform</dc:title>
  <dc:subject>PptxGenJS Presentation</dc:subject>
  <dc:creator>Atanu Banerjee</dc:creator>
  <cp:lastModifiedBy>Atanu Banerjee</cp:lastModifiedBy>
  <cp:revision>1</cp:revision>
  <dcterms:created xsi:type="dcterms:W3CDTF">2026-06-11T08:29:27Z</dcterms:created>
  <dcterms:modified xsi:type="dcterms:W3CDTF">2026-06-11T08:29:27Z</dcterms:modified>
</cp:coreProperties>
</file>